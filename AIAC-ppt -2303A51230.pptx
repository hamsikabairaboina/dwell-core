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9"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28" autoAdjust="0"/>
    <p:restoredTop sz="94610"/>
  </p:normalViewPr>
  <p:slideViewPr>
    <p:cSldViewPr snapToGrid="0" snapToObjects="1">
      <p:cViewPr varScale="1">
        <p:scale>
          <a:sx n="109" d="100"/>
          <a:sy n="109" d="100"/>
        </p:scale>
        <p:origin x="485"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731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1410743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6858000" y="-1097280"/>
            <a:ext cx="3657600" cy="3657600"/>
          </a:xfrm>
          <a:prstGeom prst="ellipse">
            <a:avLst/>
          </a:prstGeom>
          <a:solidFill>
            <a:srgbClr val="6C63FF">
              <a:alpha val="18000"/>
            </a:srgbClr>
          </a:solidFill>
          <a:ln w="12700">
            <a:solidFill>
              <a:srgbClr val="6C63FF">
                <a:alpha val="18000"/>
              </a:srgbClr>
            </a:solidFill>
            <a:prstDash val="solid"/>
          </a:ln>
        </p:spPr>
      </p:sp>
      <p:sp>
        <p:nvSpPr>
          <p:cNvPr id="3" name="Shape 1"/>
          <p:cNvSpPr/>
          <p:nvPr/>
        </p:nvSpPr>
        <p:spPr>
          <a:xfrm>
            <a:off x="7498080" y="-457200"/>
            <a:ext cx="2286000" cy="2286000"/>
          </a:xfrm>
          <a:prstGeom prst="ellipse">
            <a:avLst/>
          </a:prstGeom>
          <a:solidFill>
            <a:srgbClr val="FF6584">
              <a:alpha val="22000"/>
            </a:srgbClr>
          </a:solidFill>
          <a:ln w="12700">
            <a:solidFill>
              <a:srgbClr val="FF6584">
                <a:alpha val="22000"/>
              </a:srgbClr>
            </a:solidFill>
            <a:prstDash val="solid"/>
          </a:ln>
        </p:spPr>
      </p:sp>
      <p:sp>
        <p:nvSpPr>
          <p:cNvPr id="4" name="Shape 2"/>
          <p:cNvSpPr/>
          <p:nvPr/>
        </p:nvSpPr>
        <p:spPr>
          <a:xfrm>
            <a:off x="-731520" y="3474720"/>
            <a:ext cx="2743200" cy="2743200"/>
          </a:xfrm>
          <a:prstGeom prst="ellipse">
            <a:avLst/>
          </a:prstGeom>
          <a:solidFill>
            <a:srgbClr val="6C63FF">
              <a:alpha val="15000"/>
            </a:srgbClr>
          </a:solidFill>
          <a:ln w="12700">
            <a:solidFill>
              <a:srgbClr val="6C63FF">
                <a:alpha val="15000"/>
              </a:srgbClr>
            </a:solidFill>
            <a:prstDash val="solid"/>
          </a:ln>
        </p:spPr>
      </p:sp>
      <p:sp>
        <p:nvSpPr>
          <p:cNvPr id="5" name="Shape 3"/>
          <p:cNvSpPr/>
          <p:nvPr/>
        </p:nvSpPr>
        <p:spPr>
          <a:xfrm>
            <a:off x="502920" y="960120"/>
            <a:ext cx="64008" cy="3200400"/>
          </a:xfrm>
          <a:prstGeom prst="rect">
            <a:avLst/>
          </a:prstGeom>
          <a:solidFill>
            <a:srgbClr val="6C63FF"/>
          </a:solidFill>
          <a:ln w="12700">
            <a:solidFill>
              <a:srgbClr val="6C63FF"/>
            </a:solidFill>
            <a:prstDash val="solid"/>
          </a:ln>
        </p:spPr>
      </p:sp>
      <p:sp>
        <p:nvSpPr>
          <p:cNvPr id="6" name="Shape 4"/>
          <p:cNvSpPr/>
          <p:nvPr/>
        </p:nvSpPr>
        <p:spPr>
          <a:xfrm>
            <a:off x="658368" y="960120"/>
            <a:ext cx="777240" cy="777240"/>
          </a:xfrm>
          <a:prstGeom prst="rect">
            <a:avLst/>
          </a:prstGeom>
          <a:solidFill>
            <a:srgbClr val="6C63FF">
              <a:alpha val="80000"/>
            </a:srgbClr>
          </a:solidFill>
          <a:ln w="12700">
            <a:solidFill>
              <a:srgbClr val="6C63FF">
                <a:alpha val="80000"/>
              </a:srgbClr>
            </a:solidFill>
            <a:prstDash val="solid"/>
          </a:ln>
          <a:effectLst>
            <a:outerShdw blurRad="101600" dist="38100" dir="8100000" algn="bl" rotWithShape="0">
              <a:srgbClr val="000000">
                <a:alpha val="18000"/>
              </a:srgbClr>
            </a:outerShdw>
          </a:effectLst>
        </p:spPr>
      </p:sp>
      <p:sp>
        <p:nvSpPr>
          <p:cNvPr id="7" name="Text 5"/>
          <p:cNvSpPr/>
          <p:nvPr/>
        </p:nvSpPr>
        <p:spPr>
          <a:xfrm>
            <a:off x="658368" y="960120"/>
            <a:ext cx="777240" cy="7772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8" name="Text 6"/>
          <p:cNvSpPr/>
          <p:nvPr/>
        </p:nvSpPr>
        <p:spPr>
          <a:xfrm>
            <a:off x="1572768" y="914400"/>
            <a:ext cx="6858000" cy="841248"/>
          </a:xfrm>
          <a:prstGeom prst="rect">
            <a:avLst/>
          </a:prstGeom>
          <a:noFill/>
          <a:ln/>
        </p:spPr>
        <p:txBody>
          <a:bodyPr wrap="square" lIns="0" tIns="0" rIns="0" bIns="0" rtlCol="0" anchor="ctr"/>
          <a:lstStyle/>
          <a:p>
            <a:pPr marL="0" indent="0">
              <a:buNone/>
            </a:pPr>
            <a:r>
              <a:rPr lang="en-US" altLang="en-US" sz="4800" b="1" dirty="0">
                <a:solidFill>
                  <a:srgbClr val="FFFFFF"/>
                </a:solidFill>
                <a:latin typeface="Calibri" pitchFamily="34" charset="0"/>
                <a:ea typeface="Calibri" pitchFamily="34" charset="-122"/>
                <a:cs typeface="Calibri" pitchFamily="34" charset="-120"/>
              </a:rPr>
              <a:t>Dwell Core</a:t>
            </a:r>
            <a:endParaRPr lang="en-US" sz="4800" dirty="0"/>
          </a:p>
        </p:txBody>
      </p:sp>
      <p:sp>
        <p:nvSpPr>
          <p:cNvPr id="9" name="Text 7"/>
          <p:cNvSpPr/>
          <p:nvPr/>
        </p:nvSpPr>
        <p:spPr>
          <a:xfrm>
            <a:off x="1572768" y="1755648"/>
            <a:ext cx="6858000" cy="457200"/>
          </a:xfrm>
          <a:prstGeom prst="rect">
            <a:avLst/>
          </a:prstGeom>
          <a:noFill/>
          <a:ln/>
        </p:spPr>
        <p:txBody>
          <a:bodyPr wrap="square" lIns="0" tIns="0" rIns="0" bIns="0" rtlCol="0" anchor="ctr"/>
          <a:lstStyle/>
          <a:p>
            <a:pPr marL="0" indent="0">
              <a:buNone/>
            </a:pPr>
            <a:r>
              <a:rPr lang="en-US" altLang="en-US" sz="1800" dirty="0">
                <a:solidFill>
                  <a:srgbClr val="A78BFA"/>
                </a:solidFill>
                <a:latin typeface="Calibri" pitchFamily="34" charset="0"/>
                <a:ea typeface="Calibri" pitchFamily="34" charset="-122"/>
                <a:cs typeface="Calibri" pitchFamily="34" charset="-120"/>
              </a:rPr>
              <a:t>Smart Apartment Management System</a:t>
            </a:r>
            <a:endParaRPr lang="en-US" sz="1800" dirty="0"/>
          </a:p>
        </p:txBody>
      </p:sp>
      <p:sp>
        <p:nvSpPr>
          <p:cNvPr id="10" name="Shape 8"/>
          <p:cNvSpPr/>
          <p:nvPr/>
        </p:nvSpPr>
        <p:spPr>
          <a:xfrm>
            <a:off x="1572768" y="2331720"/>
            <a:ext cx="4114800" cy="27432"/>
          </a:xfrm>
          <a:prstGeom prst="rect">
            <a:avLst/>
          </a:prstGeom>
          <a:solidFill>
            <a:srgbClr val="6C63FF">
              <a:alpha val="60000"/>
            </a:srgbClr>
          </a:solidFill>
          <a:ln w="12700">
            <a:solidFill>
              <a:srgbClr val="6C63FF">
                <a:alpha val="60000"/>
              </a:srgbClr>
            </a:solidFill>
            <a:prstDash val="solid"/>
          </a:ln>
        </p:spPr>
      </p:sp>
      <p:sp>
        <p:nvSpPr>
          <p:cNvPr id="11" name="Text 9"/>
          <p:cNvSpPr/>
          <p:nvPr/>
        </p:nvSpPr>
        <p:spPr>
          <a:xfrm>
            <a:off x="1572768" y="2487168"/>
            <a:ext cx="2743200" cy="320040"/>
          </a:xfrm>
          <a:prstGeom prst="rect">
            <a:avLst/>
          </a:prstGeom>
          <a:noFill/>
          <a:ln/>
        </p:spPr>
        <p:txBody>
          <a:bodyPr wrap="square" lIns="0" tIns="0" rIns="0" bIns="0" rtlCol="0" anchor="ctr"/>
          <a:lstStyle/>
          <a:p>
            <a:pPr marL="0" indent="0">
              <a:buNone/>
            </a:pPr>
            <a:r>
              <a:rPr lang="en-US" altLang="en-US" sz="1100" kern="0" spc="200" dirty="0">
                <a:solidFill>
                  <a:srgbClr val="94A3B8"/>
                </a:solidFill>
                <a:latin typeface="Calibri" pitchFamily="34" charset="0"/>
                <a:ea typeface="Calibri" pitchFamily="34" charset="-122"/>
                <a:cs typeface="Calibri" pitchFamily="34" charset="-120"/>
              </a:rPr>
              <a:t>Submitted By</a:t>
            </a:r>
            <a:endParaRPr lang="en-US" sz="1100" dirty="0"/>
          </a:p>
        </p:txBody>
      </p:sp>
      <p:sp>
        <p:nvSpPr>
          <p:cNvPr id="12" name="Shape 10"/>
          <p:cNvSpPr/>
          <p:nvPr/>
        </p:nvSpPr>
        <p:spPr>
          <a:xfrm>
            <a:off x="1572768" y="2834640"/>
            <a:ext cx="3291840" cy="493776"/>
          </a:xfrm>
          <a:prstGeom prst="rect">
            <a:avLst/>
          </a:prstGeom>
          <a:solidFill>
            <a:srgbClr val="6C63FF">
              <a:alpha val="20000"/>
            </a:srgbClr>
          </a:solidFill>
          <a:ln w="12700">
            <a:solidFill>
              <a:srgbClr val="6C63FF">
                <a:alpha val="50000"/>
              </a:srgbClr>
            </a:solidFill>
            <a:prstDash val="solid"/>
          </a:ln>
          <a:effectLst>
            <a:outerShdw blurRad="101600" dist="38100" dir="8100000" algn="bl" rotWithShape="0">
              <a:srgbClr val="000000">
                <a:alpha val="18000"/>
              </a:srgbClr>
            </a:outerShdw>
          </a:effectLst>
        </p:spPr>
      </p:sp>
      <p:sp>
        <p:nvSpPr>
          <p:cNvPr id="13" name="Text 11"/>
          <p:cNvSpPr/>
          <p:nvPr/>
        </p:nvSpPr>
        <p:spPr>
          <a:xfrm>
            <a:off x="1664208" y="2852928"/>
            <a:ext cx="3108960" cy="713232"/>
          </a:xfrm>
          <a:prstGeom prst="rect">
            <a:avLst/>
          </a:prstGeom>
          <a:noFill/>
          <a:ln/>
        </p:spPr>
        <p:txBody>
          <a:bodyPr wrap="square" lIns="0" tIns="0" rIns="0" bIns="0" rtlCol="0" anchor="ctr"/>
          <a:lstStyle/>
          <a:p>
            <a:pPr marL="0" indent="0">
              <a:buNone/>
            </a:pPr>
            <a:r>
              <a:rPr lang="en-US" sz="1900" b="1" dirty="0">
                <a:solidFill>
                  <a:srgbClr val="FFFFFF"/>
                </a:solidFill>
              </a:rPr>
              <a:t>B. Hamsika</a:t>
            </a:r>
            <a:endParaRPr lang="en-US" sz="1900" dirty="0"/>
          </a:p>
          <a:p>
            <a:pPr marL="0" indent="0">
              <a:buNone/>
            </a:pPr>
            <a:endParaRPr lang="en-US" sz="1900" dirty="0"/>
          </a:p>
        </p:txBody>
      </p:sp>
      <p:sp>
        <p:nvSpPr>
          <p:cNvPr id="14" name="Text 12"/>
          <p:cNvSpPr/>
          <p:nvPr/>
        </p:nvSpPr>
        <p:spPr>
          <a:xfrm>
            <a:off x="0" y="4800600"/>
            <a:ext cx="9144000" cy="320040"/>
          </a:xfrm>
          <a:prstGeom prst="rect">
            <a:avLst/>
          </a:prstGeom>
          <a:noFill/>
          <a:ln/>
        </p:spPr>
        <p:txBody>
          <a:bodyPr wrap="square" rtlCol="0" anchor="ctr"/>
          <a:lstStyle/>
          <a:p>
            <a:pPr marL="0" indent="0" algn="ctr">
              <a:buNone/>
            </a:pPr>
            <a:r>
              <a:rPr lang="en-US" altLang="en-US" sz="1000" dirty="0">
                <a:solidFill>
                  <a:srgbClr val="94A3B8"/>
                </a:solidFill>
                <a:latin typeface="Calibri" pitchFamily="34" charset="0"/>
                <a:ea typeface="Calibri" pitchFamily="34" charset="-122"/>
                <a:cs typeface="Calibri" pitchFamily="34" charset="-120"/>
              </a:rPr>
              <a:t>AI-Assisted Full-Stack Web Development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2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1A2E"/>
          </a:solidFill>
          <a:ln w="12700">
            <a:solidFill>
              <a:srgbClr val="1A1A2E"/>
            </a:solidFill>
            <a:prstDash val="solid"/>
          </a:ln>
        </p:spPr>
      </p:sp>
      <p:sp>
        <p:nvSpPr>
          <p:cNvPr id="3" name="Text 1"/>
          <p:cNvSpPr/>
          <p:nvPr/>
        </p:nvSpPr>
        <p:spPr>
          <a:xfrm>
            <a:off x="457200" y="0"/>
            <a:ext cx="8229600" cy="1005840"/>
          </a:xfrm>
          <a:prstGeom prst="rect">
            <a:avLst/>
          </a:prstGeom>
          <a:noFill/>
          <a:ln/>
        </p:spPr>
        <p:txBody>
          <a:bodyPr wrap="square" lIns="0" tIns="0" rIns="0" bIns="0" rtlCol="0" anchor="ctr"/>
          <a:lstStyle/>
          <a:p>
            <a:pPr marL="0" indent="0">
              <a:buNone/>
            </a:pPr>
            <a:r>
              <a:rPr lang="en-US" altLang="en-US" sz="2200" b="1" dirty="0">
                <a:solidFill>
                  <a:srgbClr val="FFFFFF"/>
                </a:solidFill>
                <a:latin typeface="Calibri" pitchFamily="34" charset="0"/>
                <a:ea typeface="Calibri" pitchFamily="34" charset="-122"/>
                <a:cs typeface="Calibri" pitchFamily="34" charset="-120"/>
              </a:rPr>
              <a:t>02  Introduction</a:t>
            </a:r>
            <a:endParaRPr lang="en-US" sz="2200" dirty="0"/>
          </a:p>
        </p:txBody>
      </p:sp>
      <p:sp>
        <p:nvSpPr>
          <p:cNvPr id="4" name="Text 2"/>
          <p:cNvSpPr/>
          <p:nvPr/>
        </p:nvSpPr>
        <p:spPr>
          <a:xfrm>
            <a:off x="8046720" y="0"/>
            <a:ext cx="822960" cy="100584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5" name="Shape 3"/>
          <p:cNvSpPr/>
          <p:nvPr/>
        </p:nvSpPr>
        <p:spPr>
          <a:xfrm>
            <a:off x="365760" y="1234440"/>
            <a:ext cx="4937760" cy="3474720"/>
          </a:xfrm>
          <a:prstGeom prst="rect">
            <a:avLst/>
          </a:prstGeom>
          <a:solidFill>
            <a:srgbClr val="FFFFFF"/>
          </a:solidFill>
          <a:ln w="12700">
            <a:solidFill>
              <a:srgbClr val="E0E0F0"/>
            </a:solidFill>
            <a:prstDash val="solid"/>
          </a:ln>
          <a:effectLst>
            <a:outerShdw blurRad="101600" dist="38100" dir="8100000" algn="bl" rotWithShape="0">
              <a:srgbClr val="000000">
                <a:alpha val="18000"/>
              </a:srgbClr>
            </a:outerShdw>
          </a:effectLst>
        </p:spPr>
      </p:sp>
      <p:sp>
        <p:nvSpPr>
          <p:cNvPr id="6" name="Shape 4"/>
          <p:cNvSpPr/>
          <p:nvPr/>
        </p:nvSpPr>
        <p:spPr>
          <a:xfrm>
            <a:off x="365760" y="1234440"/>
            <a:ext cx="73152" cy="3474720"/>
          </a:xfrm>
          <a:prstGeom prst="rect">
            <a:avLst/>
          </a:prstGeom>
          <a:solidFill>
            <a:srgbClr val="6C63FF"/>
          </a:solidFill>
          <a:ln w="12700">
            <a:solidFill>
              <a:srgbClr val="6C63FF"/>
            </a:solidFill>
            <a:prstDash val="solid"/>
          </a:ln>
        </p:spPr>
      </p:sp>
      <p:sp>
        <p:nvSpPr>
          <p:cNvPr id="7" name="Text 5"/>
          <p:cNvSpPr/>
          <p:nvPr/>
        </p:nvSpPr>
        <p:spPr>
          <a:xfrm>
            <a:off x="566928" y="1371600"/>
            <a:ext cx="4572000" cy="365760"/>
          </a:xfrm>
          <a:prstGeom prst="rect">
            <a:avLst/>
          </a:prstGeom>
          <a:noFill/>
          <a:ln/>
        </p:spPr>
        <p:txBody>
          <a:bodyPr wrap="square" lIns="0" tIns="0" rIns="0" bIns="0" rtlCol="0" anchor="ctr"/>
          <a:lstStyle/>
          <a:p>
            <a:pPr marL="0" indent="0">
              <a:buNone/>
            </a:pPr>
            <a:r>
              <a:rPr lang="en-US" altLang="en-US" sz="1500" b="1" dirty="0">
                <a:solidFill>
                  <a:srgbClr val="1A1A2E"/>
                </a:solidFill>
                <a:latin typeface="Calibri" pitchFamily="34" charset="0"/>
                <a:ea typeface="Calibri" pitchFamily="34" charset="-122"/>
                <a:cs typeface="Calibri" pitchFamily="34" charset="-120"/>
              </a:rPr>
              <a:t>About the Project</a:t>
            </a:r>
            <a:endParaRPr lang="en-US" sz="1500" dirty="0"/>
          </a:p>
        </p:txBody>
      </p:sp>
      <p:sp>
        <p:nvSpPr>
          <p:cNvPr id="8" name="Text 6"/>
          <p:cNvSpPr/>
          <p:nvPr/>
        </p:nvSpPr>
        <p:spPr>
          <a:xfrm>
            <a:off x="566928" y="1828800"/>
            <a:ext cx="4480560" cy="2743200"/>
          </a:xfrm>
          <a:prstGeom prst="rect">
            <a:avLst/>
          </a:prstGeom>
          <a:noFill/>
          <a:ln/>
        </p:spPr>
        <p:txBody>
          <a:bodyPr wrap="square" rtlCol="0" anchor="t"/>
          <a:lstStyle/>
          <a:p>
            <a:pPr marL="0" indent="0">
              <a:buNone/>
            </a:pPr>
            <a:r>
              <a:rPr lang="en-US" altLang="en-US" sz="1250" dirty="0">
                <a:solidFill>
                  <a:srgbClr val="374151"/>
                </a:solidFill>
                <a:latin typeface="Calibri" pitchFamily="34" charset="0"/>
                <a:ea typeface="Calibri" pitchFamily="34" charset="-122"/>
                <a:cs typeface="Calibri" pitchFamily="34" charset="-120"/>
              </a:rPr>
              <a:t>Dwell Core is a full-stack web application built to digitize and streamline apartment community management. It replaces manual paperwork with an intelligent, role-based digital platform accessible from any browser.</a:t>
            </a:r>
            <a:endParaRPr lang="en-US" sz="1250" dirty="0"/>
          </a:p>
          <a:p>
            <a:pPr marL="0" indent="0">
              <a:buNone/>
            </a:pPr>
            <a:endParaRPr lang="en-US" sz="1250" dirty="0"/>
          </a:p>
          <a:p>
            <a:pPr marL="0" indent="0">
              <a:buNone/>
            </a:pPr>
            <a:r>
              <a:rPr lang="en-US" altLang="en-US" sz="1250" dirty="0">
                <a:solidFill>
                  <a:srgbClr val="374151"/>
                </a:solidFill>
                <a:latin typeface="Calibri" pitchFamily="34" charset="0"/>
                <a:ea typeface="Calibri" pitchFamily="34" charset="-122"/>
                <a:cs typeface="Calibri" pitchFamily="34" charset="-120"/>
              </a:rPr>
              <a:t>Developed using Node.js, Express, MongoDB, and EJS, the system provides separate portals for Administrators and Residents — each with tailored dashboards, features, and access controls.</a:t>
            </a:r>
            <a:endParaRPr lang="en-US" sz="1250" dirty="0"/>
          </a:p>
        </p:txBody>
      </p:sp>
      <p:sp>
        <p:nvSpPr>
          <p:cNvPr id="9" name="Shape 7"/>
          <p:cNvSpPr/>
          <p:nvPr/>
        </p:nvSpPr>
        <p:spPr>
          <a:xfrm>
            <a:off x="5577840" y="1234440"/>
            <a:ext cx="1554480" cy="1417320"/>
          </a:xfrm>
          <a:prstGeom prst="rect">
            <a:avLst/>
          </a:prstGeom>
          <a:solidFill>
            <a:srgbClr val="FFFFFF"/>
          </a:solidFill>
          <a:ln w="12700">
            <a:solidFill>
              <a:srgbClr val="E0E0F0"/>
            </a:solidFill>
            <a:prstDash val="solid"/>
          </a:ln>
          <a:effectLst>
            <a:outerShdw blurRad="101600" dist="38100" dir="8100000" algn="bl" rotWithShape="0">
              <a:srgbClr val="000000">
                <a:alpha val="18000"/>
              </a:srgbClr>
            </a:outerShdw>
          </a:effectLst>
        </p:spPr>
      </p:sp>
      <p:sp>
        <p:nvSpPr>
          <p:cNvPr id="10" name="Shape 8"/>
          <p:cNvSpPr/>
          <p:nvPr/>
        </p:nvSpPr>
        <p:spPr>
          <a:xfrm>
            <a:off x="5577840" y="1234440"/>
            <a:ext cx="1554480" cy="347472"/>
          </a:xfrm>
          <a:prstGeom prst="rect">
            <a:avLst/>
          </a:prstGeom>
          <a:solidFill>
            <a:srgbClr val="6C63FF">
              <a:alpha val="85000"/>
            </a:srgbClr>
          </a:solidFill>
          <a:ln w="12700">
            <a:solidFill>
              <a:srgbClr val="6C63FF">
                <a:alpha val="85000"/>
              </a:srgbClr>
            </a:solidFill>
            <a:prstDash val="solid"/>
          </a:ln>
        </p:spPr>
      </p:sp>
      <p:sp>
        <p:nvSpPr>
          <p:cNvPr id="11" name="Text 9"/>
          <p:cNvSpPr/>
          <p:nvPr/>
        </p:nvSpPr>
        <p:spPr>
          <a:xfrm>
            <a:off x="5577840" y="1234440"/>
            <a:ext cx="1554480"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2" name="Text 10"/>
          <p:cNvSpPr/>
          <p:nvPr/>
        </p:nvSpPr>
        <p:spPr>
          <a:xfrm>
            <a:off x="5577840" y="1618488"/>
            <a:ext cx="1554480" cy="347472"/>
          </a:xfrm>
          <a:prstGeom prst="rect">
            <a:avLst/>
          </a:prstGeom>
          <a:noFill/>
          <a:ln/>
        </p:spPr>
        <p:txBody>
          <a:bodyPr wrap="square" rtlCol="0" anchor="ctr"/>
          <a:lstStyle/>
          <a:p>
            <a:pPr marL="0" indent="0" algn="ctr">
              <a:buNone/>
            </a:pPr>
            <a:r>
              <a:rPr lang="en-US" altLang="en-US" sz="1100" b="1" dirty="0">
                <a:solidFill>
                  <a:srgbClr val="1A1A2E"/>
                </a:solidFill>
                <a:latin typeface="Calibri" pitchFamily="34" charset="0"/>
                <a:ea typeface="Calibri" pitchFamily="34" charset="-122"/>
                <a:cs typeface="Calibri" pitchFamily="34" charset="-120"/>
              </a:rPr>
              <a:t>Admin Role</a:t>
            </a:r>
            <a:endParaRPr lang="en-US" sz="1100" dirty="0"/>
          </a:p>
        </p:txBody>
      </p:sp>
      <p:sp>
        <p:nvSpPr>
          <p:cNvPr id="13" name="Text 11"/>
          <p:cNvSpPr/>
          <p:nvPr/>
        </p:nvSpPr>
        <p:spPr>
          <a:xfrm>
            <a:off x="5577840" y="1947672"/>
            <a:ext cx="1554480" cy="530352"/>
          </a:xfrm>
          <a:prstGeom prst="rect">
            <a:avLst/>
          </a:prstGeom>
          <a:noFill/>
          <a:ln/>
        </p:spPr>
        <p:txBody>
          <a:bodyPr wrap="square" rtlCol="0" anchor="ctr"/>
          <a:lstStyle/>
          <a:p>
            <a:pPr marL="0" indent="0" algn="ctr">
              <a:buNone/>
            </a:pPr>
            <a:r>
              <a:rPr lang="en-US" altLang="en-US" sz="1200" dirty="0">
                <a:solidFill>
                  <a:srgbClr val="94A3B8"/>
                </a:solidFill>
                <a:latin typeface="Calibri" pitchFamily="34" charset="0"/>
                <a:ea typeface="Calibri" pitchFamily="34" charset="-122"/>
                <a:cs typeface="Calibri" pitchFamily="34" charset="-120"/>
              </a:rPr>
              <a:t>Full system control</a:t>
            </a:r>
            <a:endParaRPr lang="en-US" sz="1200" dirty="0"/>
          </a:p>
        </p:txBody>
      </p:sp>
      <p:sp>
        <p:nvSpPr>
          <p:cNvPr id="14" name="Shape 12"/>
          <p:cNvSpPr/>
          <p:nvPr/>
        </p:nvSpPr>
        <p:spPr>
          <a:xfrm>
            <a:off x="7223760" y="1234440"/>
            <a:ext cx="1554480" cy="1417320"/>
          </a:xfrm>
          <a:prstGeom prst="rect">
            <a:avLst/>
          </a:prstGeom>
          <a:solidFill>
            <a:srgbClr val="FFFFFF"/>
          </a:solidFill>
          <a:ln w="12700">
            <a:solidFill>
              <a:srgbClr val="E0E0F0"/>
            </a:solidFill>
            <a:prstDash val="solid"/>
          </a:ln>
          <a:effectLst>
            <a:outerShdw blurRad="101600" dist="38100" dir="8100000" algn="bl" rotWithShape="0">
              <a:srgbClr val="000000">
                <a:alpha val="18000"/>
              </a:srgbClr>
            </a:outerShdw>
          </a:effectLst>
        </p:spPr>
      </p:sp>
      <p:sp>
        <p:nvSpPr>
          <p:cNvPr id="15" name="Shape 13"/>
          <p:cNvSpPr/>
          <p:nvPr/>
        </p:nvSpPr>
        <p:spPr>
          <a:xfrm>
            <a:off x="7223760" y="1234440"/>
            <a:ext cx="1554480" cy="347472"/>
          </a:xfrm>
          <a:prstGeom prst="rect">
            <a:avLst/>
          </a:prstGeom>
          <a:solidFill>
            <a:srgbClr val="2563EB">
              <a:alpha val="85000"/>
            </a:srgbClr>
          </a:solidFill>
          <a:ln w="12700">
            <a:solidFill>
              <a:srgbClr val="2563EB">
                <a:alpha val="85000"/>
              </a:srgbClr>
            </a:solidFill>
            <a:prstDash val="solid"/>
          </a:ln>
        </p:spPr>
      </p:sp>
      <p:sp>
        <p:nvSpPr>
          <p:cNvPr id="16" name="Text 14"/>
          <p:cNvSpPr/>
          <p:nvPr/>
        </p:nvSpPr>
        <p:spPr>
          <a:xfrm>
            <a:off x="7223760" y="1234440"/>
            <a:ext cx="1554480"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7" name="Text 15"/>
          <p:cNvSpPr/>
          <p:nvPr/>
        </p:nvSpPr>
        <p:spPr>
          <a:xfrm>
            <a:off x="7223760" y="1618488"/>
            <a:ext cx="1554480" cy="347472"/>
          </a:xfrm>
          <a:prstGeom prst="rect">
            <a:avLst/>
          </a:prstGeom>
          <a:noFill/>
          <a:ln/>
        </p:spPr>
        <p:txBody>
          <a:bodyPr wrap="square" rtlCol="0" anchor="ctr"/>
          <a:lstStyle/>
          <a:p>
            <a:pPr marL="0" indent="0" algn="ctr">
              <a:buNone/>
            </a:pPr>
            <a:r>
              <a:rPr lang="en-US" altLang="en-US" sz="1100" b="1" dirty="0">
                <a:solidFill>
                  <a:srgbClr val="1A1A2E"/>
                </a:solidFill>
                <a:latin typeface="Calibri" pitchFamily="34" charset="0"/>
                <a:ea typeface="Calibri" pitchFamily="34" charset="-122"/>
                <a:cs typeface="Calibri" pitchFamily="34" charset="-120"/>
              </a:rPr>
              <a:t>Resident Role</a:t>
            </a:r>
            <a:endParaRPr lang="en-US" sz="1100" dirty="0"/>
          </a:p>
        </p:txBody>
      </p:sp>
      <p:sp>
        <p:nvSpPr>
          <p:cNvPr id="18" name="Text 16"/>
          <p:cNvSpPr/>
          <p:nvPr/>
        </p:nvSpPr>
        <p:spPr>
          <a:xfrm>
            <a:off x="7223760" y="1947672"/>
            <a:ext cx="1554480" cy="530352"/>
          </a:xfrm>
          <a:prstGeom prst="rect">
            <a:avLst/>
          </a:prstGeom>
          <a:noFill/>
          <a:ln/>
        </p:spPr>
        <p:txBody>
          <a:bodyPr wrap="square" rtlCol="0" anchor="ctr"/>
          <a:lstStyle/>
          <a:p>
            <a:pPr marL="0" indent="0" algn="ctr">
              <a:buNone/>
            </a:pPr>
            <a:r>
              <a:rPr lang="en-US" altLang="en-US" sz="1200" dirty="0">
                <a:solidFill>
                  <a:srgbClr val="94A3B8"/>
                </a:solidFill>
                <a:latin typeface="Calibri" pitchFamily="34" charset="0"/>
                <a:ea typeface="Calibri" pitchFamily="34" charset="-122"/>
                <a:cs typeface="Calibri" pitchFamily="34" charset="-120"/>
              </a:rPr>
              <a:t>Personal portal access</a:t>
            </a:r>
            <a:endParaRPr lang="en-US" sz="1200" dirty="0"/>
          </a:p>
        </p:txBody>
      </p:sp>
      <p:sp>
        <p:nvSpPr>
          <p:cNvPr id="19" name="Shape 17"/>
          <p:cNvSpPr/>
          <p:nvPr/>
        </p:nvSpPr>
        <p:spPr>
          <a:xfrm>
            <a:off x="5577840" y="2788920"/>
            <a:ext cx="1554480" cy="1417320"/>
          </a:xfrm>
          <a:prstGeom prst="rect">
            <a:avLst/>
          </a:prstGeom>
          <a:solidFill>
            <a:srgbClr val="FFFFFF"/>
          </a:solidFill>
          <a:ln w="12700">
            <a:solidFill>
              <a:srgbClr val="E0E0F0"/>
            </a:solidFill>
            <a:prstDash val="solid"/>
          </a:ln>
          <a:effectLst>
            <a:outerShdw blurRad="101600" dist="38100" dir="8100000" algn="bl" rotWithShape="0">
              <a:srgbClr val="000000">
                <a:alpha val="18000"/>
              </a:srgbClr>
            </a:outerShdw>
          </a:effectLst>
        </p:spPr>
      </p:sp>
      <p:sp>
        <p:nvSpPr>
          <p:cNvPr id="20" name="Shape 18"/>
          <p:cNvSpPr/>
          <p:nvPr/>
        </p:nvSpPr>
        <p:spPr>
          <a:xfrm>
            <a:off x="5577840" y="2788920"/>
            <a:ext cx="1554480" cy="347472"/>
          </a:xfrm>
          <a:prstGeom prst="rect">
            <a:avLst/>
          </a:prstGeom>
          <a:solidFill>
            <a:srgbClr val="2ECC71">
              <a:alpha val="85000"/>
            </a:srgbClr>
          </a:solidFill>
          <a:ln w="12700">
            <a:solidFill>
              <a:srgbClr val="2ECC71">
                <a:alpha val="85000"/>
              </a:srgbClr>
            </a:solidFill>
            <a:prstDash val="solid"/>
          </a:ln>
        </p:spPr>
      </p:sp>
      <p:sp>
        <p:nvSpPr>
          <p:cNvPr id="21" name="Text 19"/>
          <p:cNvSpPr/>
          <p:nvPr/>
        </p:nvSpPr>
        <p:spPr>
          <a:xfrm>
            <a:off x="5577840" y="2788920"/>
            <a:ext cx="1554480"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2" name="Text 20"/>
          <p:cNvSpPr/>
          <p:nvPr/>
        </p:nvSpPr>
        <p:spPr>
          <a:xfrm>
            <a:off x="5577840" y="3172968"/>
            <a:ext cx="1554480" cy="347472"/>
          </a:xfrm>
          <a:prstGeom prst="rect">
            <a:avLst/>
          </a:prstGeom>
          <a:noFill/>
          <a:ln/>
        </p:spPr>
        <p:txBody>
          <a:bodyPr wrap="square" rtlCol="0" anchor="ctr"/>
          <a:lstStyle/>
          <a:p>
            <a:pPr marL="0" indent="0" algn="ctr">
              <a:buNone/>
            </a:pPr>
            <a:r>
              <a:rPr lang="en-US" altLang="en-US" sz="1100" b="1" dirty="0">
                <a:solidFill>
                  <a:srgbClr val="1A1A2E"/>
                </a:solidFill>
                <a:latin typeface="Calibri" pitchFamily="34" charset="0"/>
                <a:ea typeface="Calibri" pitchFamily="34" charset="-122"/>
                <a:cs typeface="Calibri" pitchFamily="34" charset="-120"/>
              </a:rPr>
              <a:t>Live Dashboard</a:t>
            </a:r>
            <a:endParaRPr lang="en-US" sz="1100" dirty="0"/>
          </a:p>
        </p:txBody>
      </p:sp>
      <p:sp>
        <p:nvSpPr>
          <p:cNvPr id="23" name="Text 21"/>
          <p:cNvSpPr/>
          <p:nvPr/>
        </p:nvSpPr>
        <p:spPr>
          <a:xfrm>
            <a:off x="5577840" y="3502152"/>
            <a:ext cx="1554480" cy="530352"/>
          </a:xfrm>
          <a:prstGeom prst="rect">
            <a:avLst/>
          </a:prstGeom>
          <a:noFill/>
          <a:ln/>
        </p:spPr>
        <p:txBody>
          <a:bodyPr wrap="square" rtlCol="0" anchor="ctr"/>
          <a:lstStyle/>
          <a:p>
            <a:pPr marL="0" indent="0" algn="ctr">
              <a:buNone/>
            </a:pPr>
            <a:r>
              <a:rPr lang="en-US" altLang="en-US" sz="1200" dirty="0">
                <a:solidFill>
                  <a:srgbClr val="94A3B8"/>
                </a:solidFill>
                <a:latin typeface="Calibri" pitchFamily="34" charset="0"/>
                <a:ea typeface="Calibri" pitchFamily="34" charset="-122"/>
                <a:cs typeface="Calibri" pitchFamily="34" charset="-120"/>
              </a:rPr>
              <a:t>Charts &amp; analytics</a:t>
            </a:r>
            <a:endParaRPr lang="en-US" sz="1200" dirty="0"/>
          </a:p>
        </p:txBody>
      </p:sp>
      <p:sp>
        <p:nvSpPr>
          <p:cNvPr id="24" name="Shape 22"/>
          <p:cNvSpPr/>
          <p:nvPr/>
        </p:nvSpPr>
        <p:spPr>
          <a:xfrm>
            <a:off x="7223760" y="2788920"/>
            <a:ext cx="1554480" cy="1417320"/>
          </a:xfrm>
          <a:prstGeom prst="rect">
            <a:avLst/>
          </a:prstGeom>
          <a:solidFill>
            <a:srgbClr val="FFFFFF"/>
          </a:solidFill>
          <a:ln w="12700">
            <a:solidFill>
              <a:srgbClr val="E0E0F0"/>
            </a:solidFill>
            <a:prstDash val="solid"/>
          </a:ln>
          <a:effectLst>
            <a:outerShdw blurRad="101600" dist="38100" dir="8100000" algn="bl" rotWithShape="0">
              <a:srgbClr val="000000">
                <a:alpha val="18000"/>
              </a:srgbClr>
            </a:outerShdw>
          </a:effectLst>
        </p:spPr>
      </p:sp>
      <p:sp>
        <p:nvSpPr>
          <p:cNvPr id="25" name="Shape 23"/>
          <p:cNvSpPr/>
          <p:nvPr/>
        </p:nvSpPr>
        <p:spPr>
          <a:xfrm>
            <a:off x="7223760" y="2788920"/>
            <a:ext cx="1554480" cy="347472"/>
          </a:xfrm>
          <a:prstGeom prst="rect">
            <a:avLst/>
          </a:prstGeom>
          <a:solidFill>
            <a:srgbClr val="F59E0B">
              <a:alpha val="85000"/>
            </a:srgbClr>
          </a:solidFill>
          <a:ln w="12700">
            <a:solidFill>
              <a:srgbClr val="F59E0B">
                <a:alpha val="85000"/>
              </a:srgbClr>
            </a:solidFill>
            <a:prstDash val="solid"/>
          </a:ln>
        </p:spPr>
      </p:sp>
      <p:sp>
        <p:nvSpPr>
          <p:cNvPr id="26" name="Text 24"/>
          <p:cNvSpPr/>
          <p:nvPr/>
        </p:nvSpPr>
        <p:spPr>
          <a:xfrm>
            <a:off x="7223760" y="2788920"/>
            <a:ext cx="1554480"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7" name="Text 25"/>
          <p:cNvSpPr/>
          <p:nvPr/>
        </p:nvSpPr>
        <p:spPr>
          <a:xfrm>
            <a:off x="7223760" y="3172968"/>
            <a:ext cx="1554480" cy="347472"/>
          </a:xfrm>
          <a:prstGeom prst="rect">
            <a:avLst/>
          </a:prstGeom>
          <a:noFill/>
          <a:ln/>
        </p:spPr>
        <p:txBody>
          <a:bodyPr wrap="square" rtlCol="0" anchor="ctr"/>
          <a:lstStyle/>
          <a:p>
            <a:pPr marL="0" indent="0" algn="ctr">
              <a:buNone/>
            </a:pPr>
            <a:r>
              <a:rPr lang="en-US" altLang="en-US" sz="1100" b="1" dirty="0">
                <a:solidFill>
                  <a:srgbClr val="1A1A2E"/>
                </a:solidFill>
                <a:latin typeface="Calibri" pitchFamily="34" charset="0"/>
                <a:ea typeface="Calibri" pitchFamily="34" charset="-122"/>
                <a:cs typeface="Calibri" pitchFamily="34" charset="-120"/>
              </a:rPr>
              <a:t>Notifications</a:t>
            </a:r>
            <a:endParaRPr lang="en-US" sz="1100" dirty="0"/>
          </a:p>
        </p:txBody>
      </p:sp>
      <p:sp>
        <p:nvSpPr>
          <p:cNvPr id="28" name="Text 26"/>
          <p:cNvSpPr/>
          <p:nvPr/>
        </p:nvSpPr>
        <p:spPr>
          <a:xfrm>
            <a:off x="7223760" y="3502152"/>
            <a:ext cx="1554480" cy="530352"/>
          </a:xfrm>
          <a:prstGeom prst="rect">
            <a:avLst/>
          </a:prstGeom>
          <a:noFill/>
          <a:ln/>
        </p:spPr>
        <p:txBody>
          <a:bodyPr wrap="square" rtlCol="0" anchor="ctr"/>
          <a:lstStyle/>
          <a:p>
            <a:pPr marL="0" indent="0" algn="ctr">
              <a:buNone/>
            </a:pPr>
            <a:r>
              <a:rPr lang="en-US" altLang="en-US" sz="1200" dirty="0">
                <a:solidFill>
                  <a:srgbClr val="94A3B8"/>
                </a:solidFill>
                <a:latin typeface="Calibri" pitchFamily="34" charset="0"/>
                <a:ea typeface="Calibri" pitchFamily="34" charset="-122"/>
                <a:cs typeface="Calibri" pitchFamily="34" charset="-120"/>
              </a:rPr>
              <a:t>Real-time alerts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7132320" y="-731520"/>
            <a:ext cx="3200400" cy="3200400"/>
          </a:xfrm>
          <a:prstGeom prst="ellipse">
            <a:avLst/>
          </a:prstGeom>
          <a:solidFill>
            <a:srgbClr val="6C63FF">
              <a:alpha val="15000"/>
            </a:srgbClr>
          </a:solidFill>
          <a:ln w="12700">
            <a:solidFill>
              <a:srgbClr val="6C63FF">
                <a:alpha val="15000"/>
              </a:srgbClr>
            </a:solidFill>
            <a:prstDash val="solid"/>
          </a:ln>
        </p:spPr>
      </p:sp>
      <p:sp>
        <p:nvSpPr>
          <p:cNvPr id="3" name="Shape 1"/>
          <p:cNvSpPr/>
          <p:nvPr/>
        </p:nvSpPr>
        <p:spPr>
          <a:xfrm>
            <a:off x="0" y="0"/>
            <a:ext cx="9144000" cy="960120"/>
          </a:xfrm>
          <a:prstGeom prst="rect">
            <a:avLst/>
          </a:prstGeom>
          <a:solidFill>
            <a:srgbClr val="6C63FF"/>
          </a:solidFill>
          <a:ln w="12700">
            <a:solidFill>
              <a:srgbClr val="6C63FF"/>
            </a:solidFill>
            <a:prstDash val="solid"/>
          </a:ln>
        </p:spPr>
      </p:sp>
      <p:sp>
        <p:nvSpPr>
          <p:cNvPr id="4" name="Text 2"/>
          <p:cNvSpPr/>
          <p:nvPr/>
        </p:nvSpPr>
        <p:spPr>
          <a:xfrm>
            <a:off x="457200" y="0"/>
            <a:ext cx="8229600" cy="960120"/>
          </a:xfrm>
          <a:prstGeom prst="rect">
            <a:avLst/>
          </a:prstGeom>
          <a:noFill/>
          <a:ln/>
        </p:spPr>
        <p:txBody>
          <a:bodyPr wrap="square" lIns="0" tIns="0" rIns="0" bIns="0" rtlCol="0" anchor="ctr"/>
          <a:lstStyle/>
          <a:p>
            <a:pPr marL="0" indent="0">
              <a:buNone/>
            </a:pPr>
            <a:r>
              <a:rPr lang="en-US" altLang="en-US" sz="2200" b="1" dirty="0">
                <a:solidFill>
                  <a:srgbClr val="FFFFFF"/>
                </a:solidFill>
                <a:latin typeface="Calibri" pitchFamily="34" charset="0"/>
                <a:ea typeface="Calibri" pitchFamily="34" charset="-122"/>
                <a:cs typeface="Calibri" pitchFamily="34" charset="-120"/>
              </a:rPr>
              <a:t>03  Objectives</a:t>
            </a:r>
            <a:endParaRPr lang="en-US" sz="2200" dirty="0"/>
          </a:p>
        </p:txBody>
      </p:sp>
      <p:sp>
        <p:nvSpPr>
          <p:cNvPr id="5" name="Shape 3"/>
          <p:cNvSpPr/>
          <p:nvPr/>
        </p:nvSpPr>
        <p:spPr>
          <a:xfrm>
            <a:off x="320040" y="1115568"/>
            <a:ext cx="4206240" cy="1143000"/>
          </a:xfrm>
          <a:prstGeom prst="rect">
            <a:avLst/>
          </a:prstGeom>
          <a:solidFill>
            <a:srgbClr val="1E2A45"/>
          </a:solidFill>
          <a:ln w="12700">
            <a:solidFill>
              <a:srgbClr val="6C63FF">
                <a:alpha val="35000"/>
              </a:srgbClr>
            </a:solidFill>
            <a:prstDash val="solid"/>
          </a:ln>
          <a:effectLst>
            <a:outerShdw blurRad="101600" dist="38100" dir="8100000" algn="bl" rotWithShape="0">
              <a:srgbClr val="000000">
                <a:alpha val="18000"/>
              </a:srgbClr>
            </a:outerShdw>
          </a:effectLst>
        </p:spPr>
      </p:sp>
      <p:sp>
        <p:nvSpPr>
          <p:cNvPr id="6" name="Shape 4"/>
          <p:cNvSpPr/>
          <p:nvPr/>
        </p:nvSpPr>
        <p:spPr>
          <a:xfrm>
            <a:off x="320040" y="1115568"/>
            <a:ext cx="502920" cy="1143000"/>
          </a:xfrm>
          <a:prstGeom prst="rect">
            <a:avLst/>
          </a:prstGeom>
          <a:solidFill>
            <a:srgbClr val="6C63FF">
              <a:alpha val="75000"/>
            </a:srgbClr>
          </a:solidFill>
          <a:ln w="12700">
            <a:solidFill>
              <a:srgbClr val="6C63FF">
                <a:alpha val="75000"/>
              </a:srgbClr>
            </a:solidFill>
            <a:prstDash val="solid"/>
          </a:ln>
        </p:spPr>
      </p:sp>
      <p:sp>
        <p:nvSpPr>
          <p:cNvPr id="7" name="Text 5"/>
          <p:cNvSpPr/>
          <p:nvPr/>
        </p:nvSpPr>
        <p:spPr>
          <a:xfrm>
            <a:off x="320040" y="1115568"/>
            <a:ext cx="502920" cy="1143000"/>
          </a:xfrm>
          <a:prstGeom prst="rect">
            <a:avLst/>
          </a:prstGeom>
          <a:noFill/>
          <a:ln/>
        </p:spPr>
        <p:txBody>
          <a:bodyPr wrap="square" rtlCol="0" anchor="ctr"/>
          <a:lstStyle/>
          <a:p>
            <a:pPr marL="0" indent="0" algn="ctr">
              <a:buNone/>
            </a:pPr>
            <a:r>
              <a:rPr lang="en-US" altLang="en-US" sz="1300" b="1" dirty="0">
                <a:solidFill>
                  <a:srgbClr val="A78BFA"/>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914400" y="1188720"/>
            <a:ext cx="3474720" cy="347472"/>
          </a:xfrm>
          <a:prstGeom prst="rect">
            <a:avLst/>
          </a:prstGeom>
          <a:noFill/>
          <a:ln/>
        </p:spPr>
        <p:txBody>
          <a:bodyPr wrap="square" lIns="0" tIns="0" rIns="0" bIns="0" rtlCol="0" anchor="ctr"/>
          <a:lstStyle/>
          <a:p>
            <a:pPr marL="0" indent="0">
              <a:buNone/>
            </a:pPr>
            <a:r>
              <a:rPr lang="en-US" altLang="en-US" sz="1200" b="1" dirty="0">
                <a:solidFill>
                  <a:srgbClr val="FFFFFF"/>
                </a:solidFill>
                <a:latin typeface="Calibri" pitchFamily="34" charset="0"/>
                <a:ea typeface="Calibri" pitchFamily="34" charset="-122"/>
                <a:cs typeface="Calibri" pitchFamily="34" charset="-120"/>
              </a:rPr>
              <a:t>🔐  Secure Authentication</a:t>
            </a:r>
            <a:endParaRPr lang="en-US" sz="1200" dirty="0"/>
          </a:p>
        </p:txBody>
      </p:sp>
      <p:sp>
        <p:nvSpPr>
          <p:cNvPr id="9" name="Text 7"/>
          <p:cNvSpPr/>
          <p:nvPr/>
        </p:nvSpPr>
        <p:spPr>
          <a:xfrm>
            <a:off x="914400" y="1536192"/>
            <a:ext cx="3474720" cy="594360"/>
          </a:xfrm>
          <a:prstGeom prst="rect">
            <a:avLst/>
          </a:prstGeom>
          <a:noFill/>
          <a:ln/>
        </p:spPr>
        <p:txBody>
          <a:bodyPr wrap="square" lIns="0" tIns="0" rIns="0" bIns="0" rtlCol="0" anchor="ctr"/>
          <a:lstStyle/>
          <a:p>
            <a:pPr marL="0" indent="0">
              <a:buNone/>
            </a:pPr>
            <a:r>
              <a:rPr lang="en-US" altLang="en-US" sz="1200" dirty="0">
                <a:solidFill>
                  <a:srgbClr val="94A3B8"/>
                </a:solidFill>
                <a:latin typeface="Calibri" pitchFamily="34" charset="0"/>
                <a:ea typeface="Calibri" pitchFamily="34" charset="-122"/>
                <a:cs typeface="Calibri" pitchFamily="34" charset="-120"/>
              </a:rPr>
              <a:t>Role-based login with bcryptjs hashing and persistent sessions via connect-mongo.</a:t>
            </a:r>
            <a:endParaRPr lang="en-US" sz="1200" dirty="0"/>
          </a:p>
        </p:txBody>
      </p:sp>
      <p:sp>
        <p:nvSpPr>
          <p:cNvPr id="10" name="Shape 8"/>
          <p:cNvSpPr/>
          <p:nvPr/>
        </p:nvSpPr>
        <p:spPr>
          <a:xfrm>
            <a:off x="4800600" y="1115568"/>
            <a:ext cx="4206240" cy="1143000"/>
          </a:xfrm>
          <a:prstGeom prst="rect">
            <a:avLst/>
          </a:prstGeom>
          <a:solidFill>
            <a:srgbClr val="1E2A45"/>
          </a:solidFill>
          <a:ln w="12700">
            <a:solidFill>
              <a:srgbClr val="6C63FF">
                <a:alpha val="35000"/>
              </a:srgbClr>
            </a:solidFill>
            <a:prstDash val="solid"/>
          </a:ln>
          <a:effectLst>
            <a:outerShdw blurRad="101600" dist="38100" dir="8100000" algn="bl" rotWithShape="0">
              <a:srgbClr val="000000">
                <a:alpha val="18000"/>
              </a:srgbClr>
            </a:outerShdw>
          </a:effectLst>
        </p:spPr>
      </p:sp>
      <p:sp>
        <p:nvSpPr>
          <p:cNvPr id="11" name="Shape 9"/>
          <p:cNvSpPr/>
          <p:nvPr/>
        </p:nvSpPr>
        <p:spPr>
          <a:xfrm>
            <a:off x="4800600" y="1115568"/>
            <a:ext cx="502920" cy="1143000"/>
          </a:xfrm>
          <a:prstGeom prst="rect">
            <a:avLst/>
          </a:prstGeom>
          <a:solidFill>
            <a:srgbClr val="6C63FF">
              <a:alpha val="75000"/>
            </a:srgbClr>
          </a:solidFill>
          <a:ln w="12700">
            <a:solidFill>
              <a:srgbClr val="6C63FF">
                <a:alpha val="75000"/>
              </a:srgbClr>
            </a:solidFill>
            <a:prstDash val="solid"/>
          </a:ln>
        </p:spPr>
      </p:sp>
      <p:sp>
        <p:nvSpPr>
          <p:cNvPr id="12" name="Text 10"/>
          <p:cNvSpPr/>
          <p:nvPr/>
        </p:nvSpPr>
        <p:spPr>
          <a:xfrm>
            <a:off x="4800600" y="1115568"/>
            <a:ext cx="502920" cy="1143000"/>
          </a:xfrm>
          <a:prstGeom prst="rect">
            <a:avLst/>
          </a:prstGeom>
          <a:noFill/>
          <a:ln/>
        </p:spPr>
        <p:txBody>
          <a:bodyPr wrap="square" rtlCol="0" anchor="ctr"/>
          <a:lstStyle/>
          <a:p>
            <a:pPr marL="0" indent="0" algn="ctr">
              <a:buNone/>
            </a:pPr>
            <a:r>
              <a:rPr lang="en-US" altLang="en-US" sz="1300" b="1" dirty="0">
                <a:solidFill>
                  <a:srgbClr val="A78BFA"/>
                </a:solidFill>
                <a:latin typeface="Calibri" pitchFamily="34" charset="0"/>
                <a:ea typeface="Calibri" pitchFamily="34" charset="-122"/>
                <a:cs typeface="Calibri" pitchFamily="34" charset="-120"/>
              </a:rPr>
              <a:t>02</a:t>
            </a:r>
            <a:endParaRPr lang="en-US" sz="1300" dirty="0"/>
          </a:p>
        </p:txBody>
      </p:sp>
      <p:sp>
        <p:nvSpPr>
          <p:cNvPr id="13" name="Text 11"/>
          <p:cNvSpPr/>
          <p:nvPr/>
        </p:nvSpPr>
        <p:spPr>
          <a:xfrm>
            <a:off x="5394960" y="1188720"/>
            <a:ext cx="3474720" cy="347472"/>
          </a:xfrm>
          <a:prstGeom prst="rect">
            <a:avLst/>
          </a:prstGeom>
          <a:noFill/>
          <a:ln/>
        </p:spPr>
        <p:txBody>
          <a:bodyPr wrap="square" lIns="0" tIns="0" rIns="0" bIns="0" rtlCol="0" anchor="ctr"/>
          <a:lstStyle/>
          <a:p>
            <a:pPr marL="0" indent="0">
              <a:buNone/>
            </a:pPr>
            <a:r>
              <a:rPr lang="en-US" altLang="en-US" sz="1200" b="1" dirty="0">
                <a:solidFill>
                  <a:srgbClr val="FFFFFF"/>
                </a:solidFill>
                <a:latin typeface="Calibri" pitchFamily="34" charset="0"/>
                <a:ea typeface="Calibri" pitchFamily="34" charset="-122"/>
                <a:cs typeface="Calibri" pitchFamily="34" charset="-120"/>
              </a:rPr>
              <a:t>📊  Analytics Dashboard</a:t>
            </a:r>
            <a:endParaRPr lang="en-US" sz="1200" dirty="0"/>
          </a:p>
        </p:txBody>
      </p:sp>
      <p:sp>
        <p:nvSpPr>
          <p:cNvPr id="14" name="Text 12"/>
          <p:cNvSpPr/>
          <p:nvPr/>
        </p:nvSpPr>
        <p:spPr>
          <a:xfrm>
            <a:off x="5394960" y="1536192"/>
            <a:ext cx="3474720" cy="594360"/>
          </a:xfrm>
          <a:prstGeom prst="rect">
            <a:avLst/>
          </a:prstGeom>
          <a:noFill/>
          <a:ln/>
        </p:spPr>
        <p:txBody>
          <a:bodyPr wrap="square" lIns="0" tIns="0" rIns="0" bIns="0" rtlCol="0" anchor="ctr"/>
          <a:lstStyle/>
          <a:p>
            <a:pPr marL="0" indent="0">
              <a:buNone/>
            </a:pPr>
            <a:r>
              <a:rPr lang="en-US" altLang="en-US" sz="1200" dirty="0">
                <a:solidFill>
                  <a:srgbClr val="94A3B8"/>
                </a:solidFill>
                <a:latin typeface="Calibri" pitchFamily="34" charset="0"/>
                <a:ea typeface="Calibri" pitchFamily="34" charset="-122"/>
                <a:cs typeface="Calibri" pitchFamily="34" charset="-120"/>
              </a:rPr>
              <a:t>Real-time statistics and Chart.js visualizations for revenue, complaints, and bills.</a:t>
            </a:r>
            <a:endParaRPr lang="en-US" sz="1200" dirty="0"/>
          </a:p>
        </p:txBody>
      </p:sp>
      <p:sp>
        <p:nvSpPr>
          <p:cNvPr id="15" name="Shape 13"/>
          <p:cNvSpPr/>
          <p:nvPr/>
        </p:nvSpPr>
        <p:spPr>
          <a:xfrm>
            <a:off x="320040" y="2441448"/>
            <a:ext cx="4206240" cy="1143000"/>
          </a:xfrm>
          <a:prstGeom prst="rect">
            <a:avLst/>
          </a:prstGeom>
          <a:solidFill>
            <a:srgbClr val="1E2A45"/>
          </a:solidFill>
          <a:ln w="12700">
            <a:solidFill>
              <a:srgbClr val="6C63FF">
                <a:alpha val="35000"/>
              </a:srgbClr>
            </a:solidFill>
            <a:prstDash val="solid"/>
          </a:ln>
          <a:effectLst>
            <a:outerShdw blurRad="101600" dist="38100" dir="8100000" algn="bl" rotWithShape="0">
              <a:srgbClr val="000000">
                <a:alpha val="18000"/>
              </a:srgbClr>
            </a:outerShdw>
          </a:effectLst>
        </p:spPr>
      </p:sp>
      <p:sp>
        <p:nvSpPr>
          <p:cNvPr id="16" name="Shape 14"/>
          <p:cNvSpPr/>
          <p:nvPr/>
        </p:nvSpPr>
        <p:spPr>
          <a:xfrm>
            <a:off x="320040" y="2441448"/>
            <a:ext cx="502920" cy="1143000"/>
          </a:xfrm>
          <a:prstGeom prst="rect">
            <a:avLst/>
          </a:prstGeom>
          <a:solidFill>
            <a:srgbClr val="6C63FF">
              <a:alpha val="75000"/>
            </a:srgbClr>
          </a:solidFill>
          <a:ln w="12700">
            <a:solidFill>
              <a:srgbClr val="6C63FF">
                <a:alpha val="75000"/>
              </a:srgbClr>
            </a:solidFill>
            <a:prstDash val="solid"/>
          </a:ln>
        </p:spPr>
      </p:sp>
      <p:sp>
        <p:nvSpPr>
          <p:cNvPr id="17" name="Text 15"/>
          <p:cNvSpPr/>
          <p:nvPr/>
        </p:nvSpPr>
        <p:spPr>
          <a:xfrm>
            <a:off x="320040" y="2441448"/>
            <a:ext cx="502920" cy="1143000"/>
          </a:xfrm>
          <a:prstGeom prst="rect">
            <a:avLst/>
          </a:prstGeom>
          <a:noFill/>
          <a:ln/>
        </p:spPr>
        <p:txBody>
          <a:bodyPr wrap="square" rtlCol="0" anchor="ctr"/>
          <a:lstStyle/>
          <a:p>
            <a:pPr marL="0" indent="0" algn="ctr">
              <a:buNone/>
            </a:pPr>
            <a:r>
              <a:rPr lang="en-US" altLang="en-US" sz="1300" b="1" dirty="0">
                <a:solidFill>
                  <a:srgbClr val="A78BFA"/>
                </a:solidFill>
                <a:latin typeface="Calibri" pitchFamily="34" charset="0"/>
                <a:ea typeface="Calibri" pitchFamily="34" charset="-122"/>
                <a:cs typeface="Calibri" pitchFamily="34" charset="-120"/>
              </a:rPr>
              <a:t>03</a:t>
            </a:r>
            <a:endParaRPr lang="en-US" sz="1300" dirty="0"/>
          </a:p>
        </p:txBody>
      </p:sp>
      <p:sp>
        <p:nvSpPr>
          <p:cNvPr id="18" name="Text 16"/>
          <p:cNvSpPr/>
          <p:nvPr/>
        </p:nvSpPr>
        <p:spPr>
          <a:xfrm>
            <a:off x="914400" y="2514600"/>
            <a:ext cx="3474720" cy="347472"/>
          </a:xfrm>
          <a:prstGeom prst="rect">
            <a:avLst/>
          </a:prstGeom>
          <a:noFill/>
          <a:ln/>
        </p:spPr>
        <p:txBody>
          <a:bodyPr wrap="square" lIns="0" tIns="0" rIns="0" bIns="0" rtlCol="0" anchor="ctr"/>
          <a:lstStyle/>
          <a:p>
            <a:pPr marL="0" indent="0">
              <a:buNone/>
            </a:pPr>
            <a:r>
              <a:rPr lang="en-US" altLang="en-US" sz="1200" b="1" dirty="0">
                <a:solidFill>
                  <a:srgbClr val="FFFFFF"/>
                </a:solidFill>
                <a:latin typeface="Calibri" pitchFamily="34" charset="0"/>
                <a:ea typeface="Calibri" pitchFamily="34" charset="-122"/>
                <a:cs typeface="Calibri" pitchFamily="34" charset="-120"/>
              </a:rPr>
              <a:t>🛠️  Complaint Management</a:t>
            </a:r>
            <a:endParaRPr lang="en-US" sz="1200" dirty="0"/>
          </a:p>
        </p:txBody>
      </p:sp>
      <p:sp>
        <p:nvSpPr>
          <p:cNvPr id="19" name="Text 17"/>
          <p:cNvSpPr/>
          <p:nvPr/>
        </p:nvSpPr>
        <p:spPr>
          <a:xfrm>
            <a:off x="914400" y="2862072"/>
            <a:ext cx="3474720" cy="594360"/>
          </a:xfrm>
          <a:prstGeom prst="rect">
            <a:avLst/>
          </a:prstGeom>
          <a:noFill/>
          <a:ln/>
        </p:spPr>
        <p:txBody>
          <a:bodyPr wrap="square" lIns="0" tIns="0" rIns="0" bIns="0" rtlCol="0" anchor="ctr"/>
          <a:lstStyle/>
          <a:p>
            <a:pPr marL="0" indent="0">
              <a:buNone/>
            </a:pPr>
            <a:r>
              <a:rPr lang="en-US" altLang="en-US" sz="1200" dirty="0">
                <a:solidFill>
                  <a:srgbClr val="94A3B8"/>
                </a:solidFill>
                <a:latin typeface="Calibri" pitchFamily="34" charset="0"/>
                <a:ea typeface="Calibri" pitchFamily="34" charset="-122"/>
                <a:cs typeface="Calibri" pitchFamily="34" charset="-120"/>
              </a:rPr>
              <a:t>Residents raise complaints with priorities; admins update status and add resolution notes.</a:t>
            </a:r>
            <a:endParaRPr lang="en-US" sz="1200" dirty="0"/>
          </a:p>
        </p:txBody>
      </p:sp>
      <p:sp>
        <p:nvSpPr>
          <p:cNvPr id="20" name="Shape 18"/>
          <p:cNvSpPr/>
          <p:nvPr/>
        </p:nvSpPr>
        <p:spPr>
          <a:xfrm>
            <a:off x="4800600" y="2441448"/>
            <a:ext cx="4206240" cy="1143000"/>
          </a:xfrm>
          <a:prstGeom prst="rect">
            <a:avLst/>
          </a:prstGeom>
          <a:solidFill>
            <a:srgbClr val="1E2A45"/>
          </a:solidFill>
          <a:ln w="12700">
            <a:solidFill>
              <a:srgbClr val="6C63FF">
                <a:alpha val="35000"/>
              </a:srgbClr>
            </a:solidFill>
            <a:prstDash val="solid"/>
          </a:ln>
          <a:effectLst>
            <a:outerShdw blurRad="101600" dist="38100" dir="8100000" algn="bl" rotWithShape="0">
              <a:srgbClr val="000000">
                <a:alpha val="18000"/>
              </a:srgbClr>
            </a:outerShdw>
          </a:effectLst>
        </p:spPr>
      </p:sp>
      <p:sp>
        <p:nvSpPr>
          <p:cNvPr id="21" name="Shape 19"/>
          <p:cNvSpPr/>
          <p:nvPr/>
        </p:nvSpPr>
        <p:spPr>
          <a:xfrm>
            <a:off x="4800600" y="2441448"/>
            <a:ext cx="502920" cy="1143000"/>
          </a:xfrm>
          <a:prstGeom prst="rect">
            <a:avLst/>
          </a:prstGeom>
          <a:solidFill>
            <a:srgbClr val="6C63FF">
              <a:alpha val="75000"/>
            </a:srgbClr>
          </a:solidFill>
          <a:ln w="12700">
            <a:solidFill>
              <a:srgbClr val="6C63FF">
                <a:alpha val="75000"/>
              </a:srgbClr>
            </a:solidFill>
            <a:prstDash val="solid"/>
          </a:ln>
        </p:spPr>
      </p:sp>
      <p:sp>
        <p:nvSpPr>
          <p:cNvPr id="22" name="Text 20"/>
          <p:cNvSpPr/>
          <p:nvPr/>
        </p:nvSpPr>
        <p:spPr>
          <a:xfrm>
            <a:off x="4800600" y="2441448"/>
            <a:ext cx="502920" cy="1143000"/>
          </a:xfrm>
          <a:prstGeom prst="rect">
            <a:avLst/>
          </a:prstGeom>
          <a:noFill/>
          <a:ln/>
        </p:spPr>
        <p:txBody>
          <a:bodyPr wrap="square" rtlCol="0" anchor="ctr"/>
          <a:lstStyle/>
          <a:p>
            <a:pPr marL="0" indent="0" algn="ctr">
              <a:buNone/>
            </a:pPr>
            <a:r>
              <a:rPr lang="en-US" altLang="en-US" sz="1300" b="1" dirty="0">
                <a:solidFill>
                  <a:srgbClr val="A78BFA"/>
                </a:solidFill>
                <a:latin typeface="Calibri" pitchFamily="34" charset="0"/>
                <a:ea typeface="Calibri" pitchFamily="34" charset="-122"/>
                <a:cs typeface="Calibri" pitchFamily="34" charset="-120"/>
              </a:rPr>
              <a:t>04</a:t>
            </a:r>
            <a:endParaRPr lang="en-US" sz="1300" dirty="0"/>
          </a:p>
        </p:txBody>
      </p:sp>
      <p:sp>
        <p:nvSpPr>
          <p:cNvPr id="23" name="Text 21"/>
          <p:cNvSpPr/>
          <p:nvPr/>
        </p:nvSpPr>
        <p:spPr>
          <a:xfrm>
            <a:off x="5394960" y="2514600"/>
            <a:ext cx="3474720" cy="347472"/>
          </a:xfrm>
          <a:prstGeom prst="rect">
            <a:avLst/>
          </a:prstGeom>
          <a:noFill/>
          <a:ln/>
        </p:spPr>
        <p:txBody>
          <a:bodyPr wrap="square" lIns="0" tIns="0" rIns="0" bIns="0" rtlCol="0" anchor="ctr"/>
          <a:lstStyle/>
          <a:p>
            <a:pPr marL="0" indent="0">
              <a:buNone/>
            </a:pPr>
            <a:r>
              <a:rPr lang="en-US" altLang="en-US" sz="1200" b="1" dirty="0">
                <a:solidFill>
                  <a:srgbClr val="FFFFFF"/>
                </a:solidFill>
                <a:latin typeface="Calibri" pitchFamily="34" charset="0"/>
                <a:ea typeface="Calibri" pitchFamily="34" charset="-122"/>
                <a:cs typeface="Calibri" pitchFamily="34" charset="-120"/>
              </a:rPr>
              <a:t>💰  Bill &amp; Payment System</a:t>
            </a:r>
            <a:endParaRPr lang="en-US" sz="1200" dirty="0"/>
          </a:p>
        </p:txBody>
      </p:sp>
      <p:sp>
        <p:nvSpPr>
          <p:cNvPr id="24" name="Text 22"/>
          <p:cNvSpPr/>
          <p:nvPr/>
        </p:nvSpPr>
        <p:spPr>
          <a:xfrm>
            <a:off x="5394960" y="2862072"/>
            <a:ext cx="3474720" cy="594360"/>
          </a:xfrm>
          <a:prstGeom prst="rect">
            <a:avLst/>
          </a:prstGeom>
          <a:noFill/>
          <a:ln/>
        </p:spPr>
        <p:txBody>
          <a:bodyPr wrap="square" lIns="0" tIns="0" rIns="0" bIns="0" rtlCol="0" anchor="ctr"/>
          <a:lstStyle/>
          <a:p>
            <a:pPr marL="0" indent="0">
              <a:buNone/>
            </a:pPr>
            <a:r>
              <a:rPr lang="en-US" altLang="en-US" sz="1200" dirty="0">
                <a:solidFill>
                  <a:srgbClr val="94A3B8"/>
                </a:solidFill>
                <a:latin typeface="Calibri" pitchFamily="34" charset="0"/>
                <a:ea typeface="Calibri" pitchFamily="34" charset="-122"/>
                <a:cs typeface="Calibri" pitchFamily="34" charset="-120"/>
              </a:rPr>
              <a:t>Auto-calculated bills with Maintenance, Water &amp; Power; full payment history with transaction IDs.</a:t>
            </a:r>
            <a:endParaRPr lang="en-US" sz="1200" dirty="0"/>
          </a:p>
        </p:txBody>
      </p:sp>
      <p:sp>
        <p:nvSpPr>
          <p:cNvPr id="25" name="Shape 23"/>
          <p:cNvSpPr/>
          <p:nvPr/>
        </p:nvSpPr>
        <p:spPr>
          <a:xfrm>
            <a:off x="320040" y="3767328"/>
            <a:ext cx="4206240" cy="1143000"/>
          </a:xfrm>
          <a:prstGeom prst="rect">
            <a:avLst/>
          </a:prstGeom>
          <a:solidFill>
            <a:srgbClr val="1E2A45"/>
          </a:solidFill>
          <a:ln w="12700">
            <a:solidFill>
              <a:srgbClr val="6C63FF">
                <a:alpha val="35000"/>
              </a:srgbClr>
            </a:solidFill>
            <a:prstDash val="solid"/>
          </a:ln>
          <a:effectLst>
            <a:outerShdw blurRad="101600" dist="38100" dir="8100000" algn="bl" rotWithShape="0">
              <a:srgbClr val="000000">
                <a:alpha val="18000"/>
              </a:srgbClr>
            </a:outerShdw>
          </a:effectLst>
        </p:spPr>
      </p:sp>
      <p:sp>
        <p:nvSpPr>
          <p:cNvPr id="26" name="Shape 24"/>
          <p:cNvSpPr/>
          <p:nvPr/>
        </p:nvSpPr>
        <p:spPr>
          <a:xfrm>
            <a:off x="320040" y="3767328"/>
            <a:ext cx="502920" cy="1143000"/>
          </a:xfrm>
          <a:prstGeom prst="rect">
            <a:avLst/>
          </a:prstGeom>
          <a:solidFill>
            <a:srgbClr val="6C63FF">
              <a:alpha val="75000"/>
            </a:srgbClr>
          </a:solidFill>
          <a:ln w="12700">
            <a:solidFill>
              <a:srgbClr val="6C63FF">
                <a:alpha val="75000"/>
              </a:srgbClr>
            </a:solidFill>
            <a:prstDash val="solid"/>
          </a:ln>
        </p:spPr>
      </p:sp>
      <p:sp>
        <p:nvSpPr>
          <p:cNvPr id="27" name="Text 25"/>
          <p:cNvSpPr/>
          <p:nvPr/>
        </p:nvSpPr>
        <p:spPr>
          <a:xfrm>
            <a:off x="320040" y="3767328"/>
            <a:ext cx="502920" cy="1143000"/>
          </a:xfrm>
          <a:prstGeom prst="rect">
            <a:avLst/>
          </a:prstGeom>
          <a:noFill/>
          <a:ln/>
        </p:spPr>
        <p:txBody>
          <a:bodyPr wrap="square" rtlCol="0" anchor="ctr"/>
          <a:lstStyle/>
          <a:p>
            <a:pPr marL="0" indent="0" algn="ctr">
              <a:buNone/>
            </a:pPr>
            <a:r>
              <a:rPr lang="en-US" altLang="en-US" sz="1300" b="1" dirty="0">
                <a:solidFill>
                  <a:srgbClr val="A78BFA"/>
                </a:solidFill>
                <a:latin typeface="Calibri" pitchFamily="34" charset="0"/>
                <a:ea typeface="Calibri" pitchFamily="34" charset="-122"/>
                <a:cs typeface="Calibri" pitchFamily="34" charset="-120"/>
              </a:rPr>
              <a:t>05</a:t>
            </a:r>
            <a:endParaRPr lang="en-US" sz="1300" dirty="0"/>
          </a:p>
        </p:txBody>
      </p:sp>
      <p:sp>
        <p:nvSpPr>
          <p:cNvPr id="28" name="Text 26"/>
          <p:cNvSpPr/>
          <p:nvPr/>
        </p:nvSpPr>
        <p:spPr>
          <a:xfrm>
            <a:off x="914400" y="3840480"/>
            <a:ext cx="3474720" cy="347472"/>
          </a:xfrm>
          <a:prstGeom prst="rect">
            <a:avLst/>
          </a:prstGeom>
          <a:noFill/>
          <a:ln/>
        </p:spPr>
        <p:txBody>
          <a:bodyPr wrap="square" lIns="0" tIns="0" rIns="0" bIns="0" rtlCol="0" anchor="ctr"/>
          <a:lstStyle/>
          <a:p>
            <a:pPr marL="0" indent="0">
              <a:buNone/>
            </a:pPr>
            <a:r>
              <a:rPr lang="en-US" altLang="en-US" sz="1200" b="1" dirty="0">
                <a:solidFill>
                  <a:srgbClr val="FFFFFF"/>
                </a:solidFill>
                <a:latin typeface="Calibri" pitchFamily="34" charset="0"/>
                <a:ea typeface="Calibri" pitchFamily="34" charset="-122"/>
                <a:cs typeface="Calibri" pitchFamily="34" charset="-120"/>
              </a:rPr>
              <a:t>📢  Notice Board</a:t>
            </a:r>
            <a:endParaRPr lang="en-US" sz="1200" dirty="0"/>
          </a:p>
        </p:txBody>
      </p:sp>
      <p:sp>
        <p:nvSpPr>
          <p:cNvPr id="29" name="Text 27"/>
          <p:cNvSpPr/>
          <p:nvPr/>
        </p:nvSpPr>
        <p:spPr>
          <a:xfrm>
            <a:off x="914400" y="4187952"/>
            <a:ext cx="3474720" cy="594360"/>
          </a:xfrm>
          <a:prstGeom prst="rect">
            <a:avLst/>
          </a:prstGeom>
          <a:noFill/>
          <a:ln/>
        </p:spPr>
        <p:txBody>
          <a:bodyPr wrap="square" lIns="0" tIns="0" rIns="0" bIns="0" rtlCol="0" anchor="ctr"/>
          <a:lstStyle/>
          <a:p>
            <a:pPr marL="0" indent="0">
              <a:buNone/>
            </a:pPr>
            <a:r>
              <a:rPr lang="en-US" altLang="en-US" sz="1200" dirty="0">
                <a:solidFill>
                  <a:srgbClr val="94A3B8"/>
                </a:solidFill>
                <a:latin typeface="Calibri" pitchFamily="34" charset="0"/>
                <a:ea typeface="Calibri" pitchFamily="34" charset="-122"/>
                <a:cs typeface="Calibri" pitchFamily="34" charset="-120"/>
              </a:rPr>
              <a:t>Admins broadcast notices; residents receive real-time in-app notifications.</a:t>
            </a:r>
            <a:endParaRPr lang="en-US" sz="1200" dirty="0"/>
          </a:p>
        </p:txBody>
      </p:sp>
      <p:sp>
        <p:nvSpPr>
          <p:cNvPr id="30" name="Shape 28"/>
          <p:cNvSpPr/>
          <p:nvPr/>
        </p:nvSpPr>
        <p:spPr>
          <a:xfrm>
            <a:off x="4800600" y="3767328"/>
            <a:ext cx="4206240" cy="1143000"/>
          </a:xfrm>
          <a:prstGeom prst="rect">
            <a:avLst/>
          </a:prstGeom>
          <a:solidFill>
            <a:srgbClr val="1E2A45"/>
          </a:solidFill>
          <a:ln w="12700">
            <a:solidFill>
              <a:srgbClr val="6C63FF">
                <a:alpha val="35000"/>
              </a:srgbClr>
            </a:solidFill>
            <a:prstDash val="solid"/>
          </a:ln>
          <a:effectLst>
            <a:outerShdw blurRad="101600" dist="38100" dir="8100000" algn="bl" rotWithShape="0">
              <a:srgbClr val="000000">
                <a:alpha val="18000"/>
              </a:srgbClr>
            </a:outerShdw>
          </a:effectLst>
        </p:spPr>
      </p:sp>
      <p:sp>
        <p:nvSpPr>
          <p:cNvPr id="31" name="Shape 29"/>
          <p:cNvSpPr/>
          <p:nvPr/>
        </p:nvSpPr>
        <p:spPr>
          <a:xfrm>
            <a:off x="4800600" y="3767328"/>
            <a:ext cx="502920" cy="1143000"/>
          </a:xfrm>
          <a:prstGeom prst="rect">
            <a:avLst/>
          </a:prstGeom>
          <a:solidFill>
            <a:srgbClr val="6C63FF">
              <a:alpha val="75000"/>
            </a:srgbClr>
          </a:solidFill>
          <a:ln w="12700">
            <a:solidFill>
              <a:srgbClr val="6C63FF">
                <a:alpha val="75000"/>
              </a:srgbClr>
            </a:solidFill>
            <a:prstDash val="solid"/>
          </a:ln>
        </p:spPr>
      </p:sp>
      <p:sp>
        <p:nvSpPr>
          <p:cNvPr id="32" name="Text 30"/>
          <p:cNvSpPr/>
          <p:nvPr/>
        </p:nvSpPr>
        <p:spPr>
          <a:xfrm>
            <a:off x="4800600" y="3767328"/>
            <a:ext cx="502920" cy="1143000"/>
          </a:xfrm>
          <a:prstGeom prst="rect">
            <a:avLst/>
          </a:prstGeom>
          <a:noFill/>
          <a:ln/>
        </p:spPr>
        <p:txBody>
          <a:bodyPr wrap="square" rtlCol="0" anchor="ctr"/>
          <a:lstStyle/>
          <a:p>
            <a:pPr marL="0" indent="0" algn="ctr">
              <a:buNone/>
            </a:pPr>
            <a:r>
              <a:rPr lang="en-US" altLang="en-US" sz="1300" b="1" dirty="0">
                <a:solidFill>
                  <a:srgbClr val="A78BFA"/>
                </a:solidFill>
                <a:latin typeface="Calibri" pitchFamily="34" charset="0"/>
                <a:ea typeface="Calibri" pitchFamily="34" charset="-122"/>
                <a:cs typeface="Calibri" pitchFamily="34" charset="-120"/>
              </a:rPr>
              <a:t>06</a:t>
            </a:r>
            <a:endParaRPr lang="en-US" sz="1300" dirty="0"/>
          </a:p>
        </p:txBody>
      </p:sp>
      <p:sp>
        <p:nvSpPr>
          <p:cNvPr id="33" name="Text 31"/>
          <p:cNvSpPr/>
          <p:nvPr/>
        </p:nvSpPr>
        <p:spPr>
          <a:xfrm>
            <a:off x="5394960" y="3840480"/>
            <a:ext cx="3474720" cy="347472"/>
          </a:xfrm>
          <a:prstGeom prst="rect">
            <a:avLst/>
          </a:prstGeom>
          <a:noFill/>
          <a:ln/>
        </p:spPr>
        <p:txBody>
          <a:bodyPr wrap="square" lIns="0" tIns="0" rIns="0" bIns="0" rtlCol="0" anchor="ctr"/>
          <a:lstStyle/>
          <a:p>
            <a:pPr marL="0" indent="0">
              <a:buNone/>
            </a:pPr>
            <a:r>
              <a:rPr lang="en-US" altLang="en-US" sz="1200" b="1" dirty="0">
                <a:solidFill>
                  <a:srgbClr val="FFFFFF"/>
                </a:solidFill>
                <a:latin typeface="Calibri" pitchFamily="34" charset="0"/>
                <a:ea typeface="Calibri" pitchFamily="34" charset="-122"/>
                <a:cs typeface="Calibri" pitchFamily="34" charset="-120"/>
              </a:rPr>
              <a:t>🔍  Search &amp; Filter</a:t>
            </a:r>
            <a:endParaRPr lang="en-US" sz="1200" dirty="0"/>
          </a:p>
        </p:txBody>
      </p:sp>
      <p:sp>
        <p:nvSpPr>
          <p:cNvPr id="34" name="Text 32"/>
          <p:cNvSpPr/>
          <p:nvPr/>
        </p:nvSpPr>
        <p:spPr>
          <a:xfrm>
            <a:off x="5394960" y="4187952"/>
            <a:ext cx="3474720" cy="594360"/>
          </a:xfrm>
          <a:prstGeom prst="rect">
            <a:avLst/>
          </a:prstGeom>
          <a:noFill/>
          <a:ln/>
        </p:spPr>
        <p:txBody>
          <a:bodyPr wrap="square" lIns="0" tIns="0" rIns="0" bIns="0" rtlCol="0" anchor="ctr"/>
          <a:lstStyle/>
          <a:p>
            <a:pPr marL="0" indent="0">
              <a:buNone/>
            </a:pPr>
            <a:r>
              <a:rPr lang="en-US" altLang="en-US" sz="1200" dirty="0">
                <a:solidFill>
                  <a:srgbClr val="94A3B8"/>
                </a:solidFill>
                <a:latin typeface="Calibri" pitchFamily="34" charset="0"/>
                <a:ea typeface="Calibri" pitchFamily="34" charset="-122"/>
                <a:cs typeface="Calibri" pitchFamily="34" charset="-120"/>
              </a:rPr>
              <a:t>Filter residents by flat, complaints by status/priority, and bills by month or payment status.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2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1A2E"/>
          </a:solidFill>
          <a:ln w="12700">
            <a:solidFill>
              <a:srgbClr val="1A1A2E"/>
            </a:solidFill>
            <a:prstDash val="solid"/>
          </a:ln>
        </p:spPr>
      </p:sp>
      <p:sp>
        <p:nvSpPr>
          <p:cNvPr id="3" name="Text 1"/>
          <p:cNvSpPr/>
          <p:nvPr/>
        </p:nvSpPr>
        <p:spPr>
          <a:xfrm>
            <a:off x="457200" y="0"/>
            <a:ext cx="8229600" cy="1005840"/>
          </a:xfrm>
          <a:prstGeom prst="rect">
            <a:avLst/>
          </a:prstGeom>
          <a:noFill/>
          <a:ln/>
        </p:spPr>
        <p:txBody>
          <a:bodyPr wrap="square" lIns="0" tIns="0" rIns="0" bIns="0" rtlCol="0" anchor="ctr"/>
          <a:lstStyle/>
          <a:p>
            <a:pPr marL="0" indent="0">
              <a:buNone/>
            </a:pPr>
            <a:r>
              <a:rPr lang="en-US" altLang="en-US" sz="2200" b="1" dirty="0">
                <a:solidFill>
                  <a:srgbClr val="FFFFFF"/>
                </a:solidFill>
                <a:latin typeface="Calibri" pitchFamily="34" charset="0"/>
                <a:ea typeface="Calibri" pitchFamily="34" charset="-122"/>
                <a:cs typeface="Calibri" pitchFamily="34" charset="-120"/>
              </a:rPr>
              <a:t>04  Stakeholders</a:t>
            </a:r>
            <a:endParaRPr lang="en-US" sz="2200" dirty="0"/>
          </a:p>
        </p:txBody>
      </p:sp>
      <p:sp>
        <p:nvSpPr>
          <p:cNvPr id="4" name="Shape 2"/>
          <p:cNvSpPr/>
          <p:nvPr/>
        </p:nvSpPr>
        <p:spPr>
          <a:xfrm>
            <a:off x="320040" y="1394460"/>
            <a:ext cx="2651760" cy="3497580"/>
          </a:xfrm>
          <a:prstGeom prst="rect">
            <a:avLst/>
          </a:prstGeom>
          <a:solidFill>
            <a:srgbClr val="FFFFFF"/>
          </a:solidFill>
          <a:ln w="12700">
            <a:solidFill>
              <a:srgbClr val="E0E0F0"/>
            </a:solidFill>
            <a:prstDash val="solid"/>
          </a:ln>
          <a:effectLst>
            <a:outerShdw blurRad="101600" dist="38100" dir="8100000" algn="bl" rotWithShape="0">
              <a:srgbClr val="000000">
                <a:alpha val="18000"/>
              </a:srgbClr>
            </a:outerShdw>
          </a:effectLst>
        </p:spPr>
        <p:txBody>
          <a:bodyPr/>
          <a:lstStyle/>
          <a:p>
            <a:endParaRPr lang="en-IN" dirty="0"/>
          </a:p>
        </p:txBody>
      </p:sp>
      <p:sp>
        <p:nvSpPr>
          <p:cNvPr id="5" name="Shape 3"/>
          <p:cNvSpPr/>
          <p:nvPr/>
        </p:nvSpPr>
        <p:spPr>
          <a:xfrm>
            <a:off x="320040" y="1143000"/>
            <a:ext cx="2651760" cy="566928"/>
          </a:xfrm>
          <a:prstGeom prst="rect">
            <a:avLst/>
          </a:prstGeom>
          <a:solidFill>
            <a:srgbClr val="6C63FF">
              <a:alpha val="88000"/>
            </a:srgbClr>
          </a:solidFill>
          <a:ln w="12700">
            <a:solidFill>
              <a:srgbClr val="6C63FF">
                <a:alpha val="88000"/>
              </a:srgbClr>
            </a:solidFill>
            <a:prstDash val="solid"/>
          </a:ln>
        </p:spPr>
      </p:sp>
      <p:sp>
        <p:nvSpPr>
          <p:cNvPr id="6" name="Text 4"/>
          <p:cNvSpPr/>
          <p:nvPr/>
        </p:nvSpPr>
        <p:spPr>
          <a:xfrm>
            <a:off x="411480" y="1143000"/>
            <a:ext cx="2468880" cy="566928"/>
          </a:xfrm>
          <a:prstGeom prst="rect">
            <a:avLst/>
          </a:prstGeom>
          <a:noFill/>
          <a:ln/>
        </p:spPr>
        <p:txBody>
          <a:bodyPr wrap="square" lIns="0" tIns="0" rIns="0" bIns="0" rtlCol="0" anchor="ctr"/>
          <a:lstStyle/>
          <a:p>
            <a:pPr marL="0" indent="0">
              <a:buNone/>
            </a:pPr>
            <a:r>
              <a:rPr lang="en-US" altLang="en-US" sz="1200" b="1" dirty="0">
                <a:solidFill>
                  <a:srgbClr val="FFFFFF"/>
                </a:solidFill>
                <a:latin typeface="Calibri" pitchFamily="34" charset="0"/>
                <a:ea typeface="Calibri" pitchFamily="34" charset="-122"/>
                <a:cs typeface="Calibri" pitchFamily="34" charset="-120"/>
              </a:rPr>
              <a:t>👑 Admin / Manager</a:t>
            </a:r>
            <a:endParaRPr lang="en-US" sz="1200" dirty="0"/>
          </a:p>
        </p:txBody>
      </p:sp>
      <p:sp>
        <p:nvSpPr>
          <p:cNvPr id="7" name="Text 5"/>
          <p:cNvSpPr/>
          <p:nvPr/>
        </p:nvSpPr>
        <p:spPr>
          <a:xfrm>
            <a:off x="411480" y="1828800"/>
            <a:ext cx="2468880" cy="530352"/>
          </a:xfrm>
          <a:prstGeom prst="rect">
            <a:avLst/>
          </a:prstGeom>
          <a:noFill/>
          <a:ln/>
        </p:spPr>
        <p:txBody>
          <a:bodyPr wrap="square" rtlCol="0" anchor="ctr"/>
          <a:lstStyle/>
          <a:p>
            <a:pPr marL="0" indent="0">
              <a:buNone/>
            </a:pPr>
            <a:r>
              <a:rPr lang="en-US" altLang="en-US" sz="1200" dirty="0">
                <a:solidFill>
                  <a:srgbClr val="94A3B8"/>
                </a:solidFill>
                <a:latin typeface="Calibri" pitchFamily="34" charset="0"/>
                <a:ea typeface="Calibri" pitchFamily="34" charset="-122"/>
                <a:cs typeface="Calibri" pitchFamily="34" charset="-120"/>
              </a:rPr>
              <a:t>Society manager, building secretary, or property management staff.</a:t>
            </a:r>
            <a:endParaRPr lang="en-US" sz="1200" dirty="0"/>
          </a:p>
        </p:txBody>
      </p:sp>
      <p:sp>
        <p:nvSpPr>
          <p:cNvPr id="8" name="Shape 6"/>
          <p:cNvSpPr/>
          <p:nvPr/>
        </p:nvSpPr>
        <p:spPr>
          <a:xfrm>
            <a:off x="411480" y="2395728"/>
            <a:ext cx="2468880" cy="27432"/>
          </a:xfrm>
          <a:prstGeom prst="rect">
            <a:avLst/>
          </a:prstGeom>
          <a:solidFill>
            <a:srgbClr val="E0E0F0"/>
          </a:solidFill>
          <a:ln w="12700">
            <a:solidFill>
              <a:srgbClr val="E0E0F0"/>
            </a:solidFill>
            <a:prstDash val="solid"/>
          </a:ln>
        </p:spPr>
      </p:sp>
      <p:sp>
        <p:nvSpPr>
          <p:cNvPr id="9" name="Text 7"/>
          <p:cNvSpPr/>
          <p:nvPr/>
        </p:nvSpPr>
        <p:spPr>
          <a:xfrm>
            <a:off x="411480" y="2468880"/>
            <a:ext cx="2468880" cy="274320"/>
          </a:xfrm>
          <a:prstGeom prst="rect">
            <a:avLst/>
          </a:prstGeom>
          <a:noFill/>
          <a:ln/>
        </p:spPr>
        <p:txBody>
          <a:bodyPr wrap="square" lIns="0" tIns="0" rIns="0" bIns="0" rtlCol="0" anchor="ctr"/>
          <a:lstStyle/>
          <a:p>
            <a:pPr marL="0" indent="0">
              <a:buNone/>
            </a:pPr>
            <a:r>
              <a:rPr lang="en-US" altLang="en-US" sz="1400" b="1" dirty="0">
                <a:solidFill>
                  <a:srgbClr val="6C63FF"/>
                </a:solidFill>
                <a:latin typeface="Calibri" pitchFamily="34" charset="0"/>
                <a:ea typeface="Calibri" pitchFamily="34" charset="-122"/>
                <a:cs typeface="Calibri" pitchFamily="34" charset="-120"/>
              </a:rPr>
              <a:t>Key Capabilities</a:t>
            </a:r>
            <a:endParaRPr lang="en-US" sz="1400" dirty="0"/>
          </a:p>
        </p:txBody>
      </p:sp>
      <p:sp>
        <p:nvSpPr>
          <p:cNvPr id="10" name="Text 8"/>
          <p:cNvSpPr/>
          <p:nvPr/>
        </p:nvSpPr>
        <p:spPr>
          <a:xfrm>
            <a:off x="411480" y="2761488"/>
            <a:ext cx="2468880" cy="1920240"/>
          </a:xfrm>
          <a:prstGeom prst="rect">
            <a:avLst/>
          </a:prstGeom>
          <a:noFill/>
          <a:ln/>
        </p:spPr>
        <p:txBody>
          <a:bodyPr wrap="square" rtlCol="0" anchor="ctr"/>
          <a:lstStyle/>
          <a:p>
            <a:pPr marL="171450" indent="-171450">
              <a:spcAft>
                <a:spcPts val="400"/>
              </a:spcAft>
              <a:buFont typeface="Wingdings" panose="05000000000000000000" pitchFamily="2" charset="2"/>
              <a:buChar char="q"/>
            </a:pPr>
            <a:r>
              <a:rPr lang="en-US" altLang="en-US" sz="1200" dirty="0">
                <a:solidFill>
                  <a:srgbClr val="374151"/>
                </a:solidFill>
                <a:latin typeface="Calibri" pitchFamily="34" charset="0"/>
                <a:ea typeface="Calibri" pitchFamily="34" charset="-122"/>
                <a:cs typeface="Calibri" pitchFamily="34" charset="-120"/>
              </a:rPr>
              <a:t>Register &amp; manage residents</a:t>
            </a:r>
            <a:endParaRPr lang="en-US" sz="1200" dirty="0"/>
          </a:p>
          <a:p>
            <a:pPr marL="171450" indent="-171450">
              <a:spcAft>
                <a:spcPts val="400"/>
              </a:spcAft>
              <a:buFont typeface="Wingdings" panose="05000000000000000000" pitchFamily="2" charset="2"/>
              <a:buChar char="q"/>
            </a:pPr>
            <a:r>
              <a:rPr lang="en-US" altLang="en-US" sz="1200" dirty="0">
                <a:solidFill>
                  <a:srgbClr val="374151"/>
                </a:solidFill>
                <a:latin typeface="Calibri" pitchFamily="34" charset="0"/>
                <a:ea typeface="Calibri" pitchFamily="34" charset="-122"/>
                <a:cs typeface="Calibri" pitchFamily="34" charset="-120"/>
              </a:rPr>
              <a:t>Generate and track bills</a:t>
            </a:r>
            <a:endParaRPr lang="en-US" sz="1200" dirty="0"/>
          </a:p>
          <a:p>
            <a:pPr marL="171450" indent="-171450">
              <a:spcAft>
                <a:spcPts val="400"/>
              </a:spcAft>
              <a:buFont typeface="Wingdings" panose="05000000000000000000" pitchFamily="2" charset="2"/>
              <a:buChar char="q"/>
            </a:pPr>
            <a:r>
              <a:rPr lang="en-US" altLang="en-US" sz="1200" dirty="0">
                <a:solidFill>
                  <a:srgbClr val="374151"/>
                </a:solidFill>
                <a:latin typeface="Calibri" pitchFamily="34" charset="0"/>
                <a:ea typeface="Calibri" pitchFamily="34" charset="-122"/>
                <a:cs typeface="Calibri" pitchFamily="34" charset="-120"/>
              </a:rPr>
              <a:t>Resolve or delete complaints</a:t>
            </a:r>
            <a:endParaRPr lang="en-US" sz="1200" dirty="0"/>
          </a:p>
          <a:p>
            <a:pPr marL="171450" indent="-171450">
              <a:spcAft>
                <a:spcPts val="400"/>
              </a:spcAft>
              <a:buFont typeface="Wingdings" panose="05000000000000000000" pitchFamily="2" charset="2"/>
              <a:buChar char="q"/>
            </a:pPr>
            <a:r>
              <a:rPr lang="en-US" altLang="en-US" sz="1200" dirty="0">
                <a:solidFill>
                  <a:srgbClr val="374151"/>
                </a:solidFill>
                <a:latin typeface="Calibri" pitchFamily="34" charset="0"/>
                <a:ea typeface="Calibri" pitchFamily="34" charset="-122"/>
                <a:cs typeface="Calibri" pitchFamily="34" charset="-120"/>
              </a:rPr>
              <a:t>Post notices to all residents</a:t>
            </a:r>
            <a:endParaRPr lang="en-US" sz="1200" dirty="0"/>
          </a:p>
          <a:p>
            <a:pPr marL="171450" indent="-171450">
              <a:spcAft>
                <a:spcPts val="400"/>
              </a:spcAft>
              <a:buFont typeface="Wingdings" panose="05000000000000000000" pitchFamily="2" charset="2"/>
              <a:buChar char="q"/>
            </a:pPr>
            <a:r>
              <a:rPr lang="en-US" altLang="en-US" sz="1200" dirty="0">
                <a:solidFill>
                  <a:srgbClr val="374151"/>
                </a:solidFill>
                <a:latin typeface="Calibri" pitchFamily="34" charset="0"/>
                <a:ea typeface="Calibri" pitchFamily="34" charset="-122"/>
                <a:cs typeface="Calibri" pitchFamily="34" charset="-120"/>
              </a:rPr>
              <a:t>View revenue analytics &amp; charts</a:t>
            </a:r>
            <a:endParaRPr lang="en-US" sz="1200" dirty="0"/>
          </a:p>
          <a:p>
            <a:pPr marL="171450" indent="-171450">
              <a:spcAft>
                <a:spcPts val="400"/>
              </a:spcAft>
              <a:buFont typeface="Wingdings" panose="05000000000000000000" pitchFamily="2" charset="2"/>
              <a:buChar char="q"/>
            </a:pPr>
            <a:r>
              <a:rPr lang="en-US" altLang="en-US" sz="1200" dirty="0">
                <a:solidFill>
                  <a:srgbClr val="374151"/>
                </a:solidFill>
                <a:latin typeface="Calibri" pitchFamily="34" charset="0"/>
                <a:ea typeface="Calibri" pitchFamily="34" charset="-122"/>
                <a:cs typeface="Calibri" pitchFamily="34" charset="-120"/>
              </a:rPr>
              <a:t>Access payment records</a:t>
            </a:r>
            <a:endParaRPr lang="en-US" sz="1200" dirty="0"/>
          </a:p>
        </p:txBody>
      </p:sp>
      <p:sp>
        <p:nvSpPr>
          <p:cNvPr id="17" name="Shape 15"/>
          <p:cNvSpPr/>
          <p:nvPr/>
        </p:nvSpPr>
        <p:spPr>
          <a:xfrm>
            <a:off x="3154680" y="1143000"/>
            <a:ext cx="2651760" cy="3749040"/>
          </a:xfrm>
          <a:prstGeom prst="rect">
            <a:avLst/>
          </a:prstGeom>
          <a:solidFill>
            <a:srgbClr val="FFFFFF"/>
          </a:solidFill>
          <a:ln w="12700">
            <a:solidFill>
              <a:srgbClr val="E0E0F0"/>
            </a:solidFill>
            <a:prstDash val="solid"/>
          </a:ln>
          <a:effectLst>
            <a:outerShdw blurRad="101600" dist="38100" dir="8100000" algn="bl" rotWithShape="0">
              <a:srgbClr val="000000">
                <a:alpha val="18000"/>
              </a:srgbClr>
            </a:outerShdw>
          </a:effectLst>
        </p:spPr>
      </p:sp>
      <p:sp>
        <p:nvSpPr>
          <p:cNvPr id="18" name="Shape 16"/>
          <p:cNvSpPr/>
          <p:nvPr/>
        </p:nvSpPr>
        <p:spPr>
          <a:xfrm>
            <a:off x="3154680" y="1143000"/>
            <a:ext cx="2651760" cy="566928"/>
          </a:xfrm>
          <a:prstGeom prst="rect">
            <a:avLst/>
          </a:prstGeom>
          <a:solidFill>
            <a:srgbClr val="2563EB">
              <a:alpha val="88000"/>
            </a:srgbClr>
          </a:solidFill>
          <a:ln w="12700">
            <a:solidFill>
              <a:srgbClr val="2563EB">
                <a:alpha val="88000"/>
              </a:srgbClr>
            </a:solidFill>
            <a:prstDash val="solid"/>
          </a:ln>
        </p:spPr>
      </p:sp>
      <p:sp>
        <p:nvSpPr>
          <p:cNvPr id="19" name="Text 17"/>
          <p:cNvSpPr/>
          <p:nvPr/>
        </p:nvSpPr>
        <p:spPr>
          <a:xfrm>
            <a:off x="3246120" y="1143000"/>
            <a:ext cx="2468880" cy="566928"/>
          </a:xfrm>
          <a:prstGeom prst="rect">
            <a:avLst/>
          </a:prstGeom>
          <a:noFill/>
          <a:ln/>
        </p:spPr>
        <p:txBody>
          <a:bodyPr wrap="square" lIns="0" tIns="0" rIns="0" bIns="0" rtlCol="0" anchor="ctr"/>
          <a:lstStyle/>
          <a:p>
            <a:pPr marL="0" indent="0">
              <a:buNone/>
            </a:pPr>
            <a:r>
              <a:rPr lang="en-US" altLang="en-US" sz="1200" b="1" dirty="0">
                <a:solidFill>
                  <a:srgbClr val="FFFFFF"/>
                </a:solidFill>
                <a:latin typeface="Calibri" pitchFamily="34" charset="0"/>
                <a:ea typeface="Calibri" pitchFamily="34" charset="-122"/>
                <a:cs typeface="Calibri" pitchFamily="34" charset="-120"/>
              </a:rPr>
              <a:t>🏠 Resident</a:t>
            </a:r>
            <a:endParaRPr lang="en-US" sz="1200" dirty="0"/>
          </a:p>
        </p:txBody>
      </p:sp>
      <p:sp>
        <p:nvSpPr>
          <p:cNvPr id="20" name="Text 18"/>
          <p:cNvSpPr/>
          <p:nvPr/>
        </p:nvSpPr>
        <p:spPr>
          <a:xfrm>
            <a:off x="3246120" y="1828800"/>
            <a:ext cx="2468880" cy="530352"/>
          </a:xfrm>
          <a:prstGeom prst="rect">
            <a:avLst/>
          </a:prstGeom>
          <a:noFill/>
          <a:ln/>
        </p:spPr>
        <p:txBody>
          <a:bodyPr wrap="square" rtlCol="0" anchor="ctr"/>
          <a:lstStyle/>
          <a:p>
            <a:pPr marL="0" indent="0">
              <a:buNone/>
            </a:pPr>
            <a:r>
              <a:rPr lang="en-US" altLang="en-US" sz="1200" dirty="0">
                <a:solidFill>
                  <a:srgbClr val="94A3B8"/>
                </a:solidFill>
                <a:latin typeface="Calibri" pitchFamily="34" charset="0"/>
                <a:ea typeface="Calibri" pitchFamily="34" charset="-122"/>
                <a:cs typeface="Calibri" pitchFamily="34" charset="-120"/>
              </a:rPr>
              <a:t>Flat owners or tenants living in the apartment complex.</a:t>
            </a:r>
            <a:endParaRPr lang="en-US" sz="1200" dirty="0"/>
          </a:p>
        </p:txBody>
      </p:sp>
      <p:sp>
        <p:nvSpPr>
          <p:cNvPr id="21" name="Shape 19"/>
          <p:cNvSpPr/>
          <p:nvPr/>
        </p:nvSpPr>
        <p:spPr>
          <a:xfrm>
            <a:off x="3246120" y="2395728"/>
            <a:ext cx="2468880" cy="27432"/>
          </a:xfrm>
          <a:prstGeom prst="rect">
            <a:avLst/>
          </a:prstGeom>
          <a:solidFill>
            <a:srgbClr val="E0E0F0"/>
          </a:solidFill>
          <a:ln w="12700">
            <a:solidFill>
              <a:srgbClr val="E0E0F0"/>
            </a:solidFill>
            <a:prstDash val="solid"/>
          </a:ln>
        </p:spPr>
      </p:sp>
      <p:sp>
        <p:nvSpPr>
          <p:cNvPr id="22" name="Text 20"/>
          <p:cNvSpPr/>
          <p:nvPr/>
        </p:nvSpPr>
        <p:spPr>
          <a:xfrm>
            <a:off x="3246120" y="2468880"/>
            <a:ext cx="2468880" cy="274320"/>
          </a:xfrm>
          <a:prstGeom prst="rect">
            <a:avLst/>
          </a:prstGeom>
          <a:noFill/>
          <a:ln/>
        </p:spPr>
        <p:txBody>
          <a:bodyPr wrap="square" lIns="0" tIns="0" rIns="0" bIns="0" rtlCol="0" anchor="ctr"/>
          <a:lstStyle/>
          <a:p>
            <a:pPr marL="0" indent="0">
              <a:buNone/>
            </a:pPr>
            <a:r>
              <a:rPr lang="en-US" altLang="en-US" sz="1400" b="1" dirty="0">
                <a:solidFill>
                  <a:srgbClr val="2563EB"/>
                </a:solidFill>
                <a:latin typeface="Calibri" pitchFamily="34" charset="0"/>
                <a:ea typeface="Calibri" pitchFamily="34" charset="-122"/>
                <a:cs typeface="Calibri" pitchFamily="34" charset="-120"/>
              </a:rPr>
              <a:t>Key Capabilities</a:t>
            </a:r>
            <a:endParaRPr lang="en-US" sz="1400" dirty="0"/>
          </a:p>
        </p:txBody>
      </p:sp>
      <p:sp>
        <p:nvSpPr>
          <p:cNvPr id="23" name="Text 21"/>
          <p:cNvSpPr/>
          <p:nvPr/>
        </p:nvSpPr>
        <p:spPr>
          <a:xfrm>
            <a:off x="3246120" y="2761488"/>
            <a:ext cx="2468880" cy="1920240"/>
          </a:xfrm>
          <a:prstGeom prst="rect">
            <a:avLst/>
          </a:prstGeom>
          <a:noFill/>
          <a:ln/>
        </p:spPr>
        <p:txBody>
          <a:bodyPr wrap="square" rtlCol="0" anchor="ctr"/>
          <a:lstStyle/>
          <a:p>
            <a:pPr marL="171450" indent="-171450">
              <a:spcAft>
                <a:spcPts val="400"/>
              </a:spcAft>
              <a:buFont typeface="Wingdings" panose="05000000000000000000" pitchFamily="2" charset="2"/>
              <a:buChar char="q"/>
            </a:pPr>
            <a:r>
              <a:rPr lang="en-US" altLang="en-US" sz="1200" dirty="0">
                <a:solidFill>
                  <a:srgbClr val="374151"/>
                </a:solidFill>
                <a:latin typeface="Calibri" pitchFamily="34" charset="0"/>
                <a:ea typeface="Calibri" pitchFamily="34" charset="-122"/>
                <a:cs typeface="Calibri" pitchFamily="34" charset="-120"/>
              </a:rPr>
              <a:t>View personal dashboard</a:t>
            </a:r>
            <a:endParaRPr lang="en-US" sz="1200" dirty="0"/>
          </a:p>
          <a:p>
            <a:pPr marL="171450" indent="-171450">
              <a:spcAft>
                <a:spcPts val="400"/>
              </a:spcAft>
              <a:buFont typeface="Wingdings" panose="05000000000000000000" pitchFamily="2" charset="2"/>
              <a:buChar char="q"/>
            </a:pPr>
            <a:r>
              <a:rPr lang="en-US" altLang="en-US" sz="1200" dirty="0">
                <a:solidFill>
                  <a:srgbClr val="374151"/>
                </a:solidFill>
                <a:latin typeface="Calibri" pitchFamily="34" charset="0"/>
                <a:ea typeface="Calibri" pitchFamily="34" charset="-122"/>
                <a:cs typeface="Calibri" pitchFamily="34" charset="-120"/>
              </a:rPr>
              <a:t>Raise and track complaints</a:t>
            </a:r>
            <a:endParaRPr lang="en-US" sz="1200" dirty="0"/>
          </a:p>
          <a:p>
            <a:pPr marL="171450" indent="-171450">
              <a:spcAft>
                <a:spcPts val="400"/>
              </a:spcAft>
              <a:buFont typeface="Wingdings" panose="05000000000000000000" pitchFamily="2" charset="2"/>
              <a:buChar char="q"/>
            </a:pPr>
            <a:r>
              <a:rPr lang="en-US" altLang="en-US" sz="1200" dirty="0">
                <a:solidFill>
                  <a:srgbClr val="374151"/>
                </a:solidFill>
                <a:latin typeface="Calibri" pitchFamily="34" charset="0"/>
                <a:ea typeface="Calibri" pitchFamily="34" charset="-122"/>
                <a:cs typeface="Calibri" pitchFamily="34" charset="-120"/>
              </a:rPr>
              <a:t>Pay pending bills online</a:t>
            </a:r>
            <a:endParaRPr lang="en-US" sz="1200" dirty="0"/>
          </a:p>
          <a:p>
            <a:pPr marL="171450" indent="-171450">
              <a:spcAft>
                <a:spcPts val="400"/>
              </a:spcAft>
              <a:buFont typeface="Wingdings" panose="05000000000000000000" pitchFamily="2" charset="2"/>
              <a:buChar char="q"/>
            </a:pPr>
            <a:r>
              <a:rPr lang="en-US" altLang="en-US" sz="1200" dirty="0">
                <a:solidFill>
                  <a:srgbClr val="374151"/>
                </a:solidFill>
                <a:latin typeface="Calibri" pitchFamily="34" charset="0"/>
                <a:ea typeface="Calibri" pitchFamily="34" charset="-122"/>
                <a:cs typeface="Calibri" pitchFamily="34" charset="-120"/>
              </a:rPr>
              <a:t>View payment history</a:t>
            </a:r>
            <a:endParaRPr lang="en-US" sz="1200" dirty="0"/>
          </a:p>
          <a:p>
            <a:pPr marL="171450" indent="-171450">
              <a:spcAft>
                <a:spcPts val="400"/>
              </a:spcAft>
              <a:buFont typeface="Wingdings" panose="05000000000000000000" pitchFamily="2" charset="2"/>
              <a:buChar char="q"/>
            </a:pPr>
            <a:r>
              <a:rPr lang="en-US" altLang="en-US" sz="1200" dirty="0">
                <a:solidFill>
                  <a:srgbClr val="374151"/>
                </a:solidFill>
                <a:latin typeface="Calibri" pitchFamily="34" charset="0"/>
                <a:ea typeface="Calibri" pitchFamily="34" charset="-122"/>
                <a:cs typeface="Calibri" pitchFamily="34" charset="-120"/>
              </a:rPr>
              <a:t>Read notice board</a:t>
            </a:r>
            <a:endParaRPr lang="en-US" sz="1200" dirty="0"/>
          </a:p>
          <a:p>
            <a:pPr marL="171450" indent="-171450">
              <a:spcAft>
                <a:spcPts val="400"/>
              </a:spcAft>
              <a:buFont typeface="Wingdings" panose="05000000000000000000" pitchFamily="2" charset="2"/>
              <a:buChar char="q"/>
            </a:pPr>
            <a:r>
              <a:rPr lang="en-US" altLang="en-US" sz="1200" dirty="0">
                <a:solidFill>
                  <a:srgbClr val="374151"/>
                </a:solidFill>
                <a:latin typeface="Calibri" pitchFamily="34" charset="0"/>
                <a:ea typeface="Calibri" pitchFamily="34" charset="-122"/>
                <a:cs typeface="Calibri" pitchFamily="34" charset="-120"/>
              </a:rPr>
              <a:t>Manage personal profile</a:t>
            </a:r>
            <a:endParaRPr lang="en-US" sz="1200" dirty="0"/>
          </a:p>
        </p:txBody>
      </p:sp>
      <p:sp>
        <p:nvSpPr>
          <p:cNvPr id="30" name="Shape 28"/>
          <p:cNvSpPr/>
          <p:nvPr/>
        </p:nvSpPr>
        <p:spPr>
          <a:xfrm>
            <a:off x="5989320" y="1143000"/>
            <a:ext cx="2651760" cy="3749040"/>
          </a:xfrm>
          <a:prstGeom prst="rect">
            <a:avLst/>
          </a:prstGeom>
          <a:solidFill>
            <a:srgbClr val="FFFFFF"/>
          </a:solidFill>
          <a:ln w="12700">
            <a:solidFill>
              <a:srgbClr val="E0E0F0"/>
            </a:solidFill>
            <a:prstDash val="solid"/>
          </a:ln>
          <a:effectLst>
            <a:outerShdw blurRad="101600" dist="38100" dir="8100000" algn="bl" rotWithShape="0">
              <a:srgbClr val="000000">
                <a:alpha val="18000"/>
              </a:srgbClr>
            </a:outerShdw>
          </a:effectLst>
        </p:spPr>
      </p:sp>
      <p:sp>
        <p:nvSpPr>
          <p:cNvPr id="31" name="Shape 29"/>
          <p:cNvSpPr/>
          <p:nvPr/>
        </p:nvSpPr>
        <p:spPr>
          <a:xfrm>
            <a:off x="5989320" y="1143000"/>
            <a:ext cx="2651760" cy="566928"/>
          </a:xfrm>
          <a:prstGeom prst="rect">
            <a:avLst/>
          </a:prstGeom>
          <a:solidFill>
            <a:srgbClr val="2ECC71">
              <a:alpha val="88000"/>
            </a:srgbClr>
          </a:solidFill>
          <a:ln w="12700">
            <a:solidFill>
              <a:srgbClr val="2ECC71">
                <a:alpha val="88000"/>
              </a:srgbClr>
            </a:solidFill>
            <a:prstDash val="solid"/>
          </a:ln>
        </p:spPr>
      </p:sp>
      <p:sp>
        <p:nvSpPr>
          <p:cNvPr id="32" name="Text 30"/>
          <p:cNvSpPr/>
          <p:nvPr/>
        </p:nvSpPr>
        <p:spPr>
          <a:xfrm>
            <a:off x="6080760" y="1143000"/>
            <a:ext cx="2468880" cy="566928"/>
          </a:xfrm>
          <a:prstGeom prst="rect">
            <a:avLst/>
          </a:prstGeom>
          <a:noFill/>
          <a:ln/>
        </p:spPr>
        <p:txBody>
          <a:bodyPr wrap="square" lIns="0" tIns="0" rIns="0" bIns="0" rtlCol="0" anchor="ctr"/>
          <a:lstStyle/>
          <a:p>
            <a:pPr marL="0" indent="0">
              <a:buNone/>
            </a:pPr>
            <a:r>
              <a:rPr lang="en-US" altLang="en-US" sz="1200" b="1" dirty="0">
                <a:solidFill>
                  <a:srgbClr val="FFFFFF"/>
                </a:solidFill>
                <a:latin typeface="Calibri" pitchFamily="34" charset="0"/>
                <a:ea typeface="Calibri" pitchFamily="34" charset="-122"/>
                <a:cs typeface="Calibri" pitchFamily="34" charset="-120"/>
              </a:rPr>
              <a:t>💻 Developer / System Admin</a:t>
            </a:r>
            <a:endParaRPr lang="en-US" sz="1200" dirty="0"/>
          </a:p>
        </p:txBody>
      </p:sp>
      <p:sp>
        <p:nvSpPr>
          <p:cNvPr id="33" name="Text 31"/>
          <p:cNvSpPr/>
          <p:nvPr/>
        </p:nvSpPr>
        <p:spPr>
          <a:xfrm>
            <a:off x="6080760" y="1828800"/>
            <a:ext cx="2468880" cy="530352"/>
          </a:xfrm>
          <a:prstGeom prst="rect">
            <a:avLst/>
          </a:prstGeom>
          <a:noFill/>
          <a:ln/>
        </p:spPr>
        <p:txBody>
          <a:bodyPr wrap="square" rtlCol="0" anchor="ctr"/>
          <a:lstStyle/>
          <a:p>
            <a:pPr marL="0" indent="0">
              <a:buNone/>
            </a:pPr>
            <a:r>
              <a:rPr lang="en-US" altLang="en-US" sz="1200" dirty="0">
                <a:solidFill>
                  <a:srgbClr val="94A3B8"/>
                </a:solidFill>
                <a:latin typeface="Calibri" pitchFamily="34" charset="0"/>
                <a:ea typeface="Calibri" pitchFamily="34" charset="-122"/>
                <a:cs typeface="Calibri" pitchFamily="34" charset="-120"/>
              </a:rPr>
              <a:t>Technical team maintaining the system and MongoDB infrastructure.</a:t>
            </a:r>
            <a:endParaRPr lang="en-US" sz="1200" dirty="0"/>
          </a:p>
        </p:txBody>
      </p:sp>
      <p:sp>
        <p:nvSpPr>
          <p:cNvPr id="34" name="Shape 32"/>
          <p:cNvSpPr/>
          <p:nvPr/>
        </p:nvSpPr>
        <p:spPr>
          <a:xfrm>
            <a:off x="6080760" y="2395728"/>
            <a:ext cx="2468880" cy="27432"/>
          </a:xfrm>
          <a:prstGeom prst="rect">
            <a:avLst/>
          </a:prstGeom>
          <a:solidFill>
            <a:srgbClr val="E0E0F0"/>
          </a:solidFill>
          <a:ln w="12700">
            <a:solidFill>
              <a:srgbClr val="E0E0F0"/>
            </a:solidFill>
            <a:prstDash val="solid"/>
          </a:ln>
        </p:spPr>
      </p:sp>
      <p:sp>
        <p:nvSpPr>
          <p:cNvPr id="35" name="Text 33"/>
          <p:cNvSpPr/>
          <p:nvPr/>
        </p:nvSpPr>
        <p:spPr>
          <a:xfrm>
            <a:off x="6080760" y="2468880"/>
            <a:ext cx="2468880" cy="274320"/>
          </a:xfrm>
          <a:prstGeom prst="rect">
            <a:avLst/>
          </a:prstGeom>
          <a:noFill/>
          <a:ln/>
        </p:spPr>
        <p:txBody>
          <a:bodyPr wrap="square" lIns="0" tIns="0" rIns="0" bIns="0" rtlCol="0" anchor="ctr"/>
          <a:lstStyle/>
          <a:p>
            <a:pPr marL="0" indent="0">
              <a:buNone/>
            </a:pPr>
            <a:r>
              <a:rPr lang="en-US" altLang="en-US" sz="1400" b="1" dirty="0">
                <a:solidFill>
                  <a:srgbClr val="2ECC71"/>
                </a:solidFill>
                <a:latin typeface="Calibri" pitchFamily="34" charset="0"/>
                <a:ea typeface="Calibri" pitchFamily="34" charset="-122"/>
                <a:cs typeface="Calibri" pitchFamily="34" charset="-120"/>
              </a:rPr>
              <a:t>Key Capabilities</a:t>
            </a:r>
            <a:endParaRPr lang="en-US" sz="1400" dirty="0"/>
          </a:p>
        </p:txBody>
      </p:sp>
      <p:sp>
        <p:nvSpPr>
          <p:cNvPr id="36" name="Text 34"/>
          <p:cNvSpPr/>
          <p:nvPr/>
        </p:nvSpPr>
        <p:spPr>
          <a:xfrm>
            <a:off x="6080760" y="2761488"/>
            <a:ext cx="2468880" cy="1920240"/>
          </a:xfrm>
          <a:prstGeom prst="rect">
            <a:avLst/>
          </a:prstGeom>
          <a:noFill/>
          <a:ln/>
        </p:spPr>
        <p:txBody>
          <a:bodyPr wrap="square" rtlCol="0" anchor="ctr"/>
          <a:lstStyle/>
          <a:p>
            <a:pPr marL="171450" indent="-171450">
              <a:spcAft>
                <a:spcPts val="400"/>
              </a:spcAft>
              <a:buFont typeface="Wingdings" panose="05000000000000000000" pitchFamily="2" charset="2"/>
              <a:buChar char="q"/>
            </a:pPr>
            <a:r>
              <a:rPr lang="en-US" altLang="en-US" sz="1200" dirty="0">
                <a:solidFill>
                  <a:srgbClr val="374151"/>
                </a:solidFill>
                <a:latin typeface="Calibri" pitchFamily="34" charset="0"/>
                <a:ea typeface="Calibri" pitchFamily="34" charset="-122"/>
                <a:cs typeface="Calibri" pitchFamily="34" charset="-120"/>
              </a:rPr>
              <a:t>Manage server &amp; database</a:t>
            </a:r>
            <a:endParaRPr lang="en-US" sz="1200" dirty="0"/>
          </a:p>
          <a:p>
            <a:pPr marL="171450" indent="-171450">
              <a:spcAft>
                <a:spcPts val="400"/>
              </a:spcAft>
              <a:buFont typeface="Wingdings" panose="05000000000000000000" pitchFamily="2" charset="2"/>
              <a:buChar char="q"/>
            </a:pPr>
            <a:r>
              <a:rPr lang="en-US" altLang="en-US" sz="1200" dirty="0">
                <a:solidFill>
                  <a:srgbClr val="374151"/>
                </a:solidFill>
                <a:latin typeface="Calibri" pitchFamily="34" charset="0"/>
                <a:ea typeface="Calibri" pitchFamily="34" charset="-122"/>
                <a:cs typeface="Calibri" pitchFamily="34" charset="-120"/>
              </a:rPr>
              <a:t>Run seed scripts for demo data</a:t>
            </a:r>
            <a:endParaRPr lang="en-US" sz="1200" dirty="0"/>
          </a:p>
          <a:p>
            <a:pPr marL="171450" indent="-171450">
              <a:spcAft>
                <a:spcPts val="400"/>
              </a:spcAft>
              <a:buFont typeface="Wingdings" panose="05000000000000000000" pitchFamily="2" charset="2"/>
              <a:buChar char="q"/>
            </a:pPr>
            <a:r>
              <a:rPr lang="en-US" altLang="en-US" sz="1200" dirty="0">
                <a:solidFill>
                  <a:srgbClr val="374151"/>
                </a:solidFill>
                <a:latin typeface="Calibri" pitchFamily="34" charset="0"/>
                <a:ea typeface="Calibri" pitchFamily="34" charset="-122"/>
                <a:cs typeface="Calibri" pitchFamily="34" charset="-120"/>
              </a:rPr>
              <a:t>Configure .env settings</a:t>
            </a:r>
            <a:endParaRPr lang="en-US" sz="1200" dirty="0"/>
          </a:p>
          <a:p>
            <a:pPr marL="171450" indent="-171450">
              <a:spcAft>
                <a:spcPts val="400"/>
              </a:spcAft>
              <a:buFont typeface="Wingdings" panose="05000000000000000000" pitchFamily="2" charset="2"/>
              <a:buChar char="q"/>
            </a:pPr>
            <a:r>
              <a:rPr lang="en-US" altLang="en-US" sz="1200" dirty="0">
                <a:solidFill>
                  <a:srgbClr val="374151"/>
                </a:solidFill>
                <a:latin typeface="Calibri" pitchFamily="34" charset="0"/>
                <a:ea typeface="Calibri" pitchFamily="34" charset="-122"/>
                <a:cs typeface="Calibri" pitchFamily="34" charset="-120"/>
              </a:rPr>
              <a:t>Deploy to production</a:t>
            </a:r>
            <a:endParaRPr lang="en-US" sz="1200" dirty="0"/>
          </a:p>
          <a:p>
            <a:pPr marL="171450" indent="-171450">
              <a:spcAft>
                <a:spcPts val="400"/>
              </a:spcAft>
              <a:buFont typeface="Wingdings" panose="05000000000000000000" pitchFamily="2" charset="2"/>
              <a:buChar char="q"/>
            </a:pPr>
            <a:r>
              <a:rPr lang="en-US" altLang="en-US" sz="1200" dirty="0">
                <a:solidFill>
                  <a:srgbClr val="374151"/>
                </a:solidFill>
                <a:latin typeface="Calibri" pitchFamily="34" charset="0"/>
                <a:ea typeface="Calibri" pitchFamily="34" charset="-122"/>
                <a:cs typeface="Calibri" pitchFamily="34" charset="-120"/>
              </a:rPr>
              <a:t>Add new features &amp; modules</a:t>
            </a:r>
            <a:endParaRPr lang="en-US" sz="1200" dirty="0"/>
          </a:p>
          <a:p>
            <a:pPr marL="171450" indent="-171450">
              <a:spcAft>
                <a:spcPts val="400"/>
              </a:spcAft>
              <a:buFont typeface="Wingdings" panose="05000000000000000000" pitchFamily="2" charset="2"/>
              <a:buChar char="q"/>
            </a:pPr>
            <a:r>
              <a:rPr lang="en-US" altLang="en-US" sz="1200" dirty="0">
                <a:solidFill>
                  <a:srgbClr val="374151"/>
                </a:solidFill>
                <a:latin typeface="Calibri" pitchFamily="34" charset="0"/>
                <a:ea typeface="Calibri" pitchFamily="34" charset="-122"/>
                <a:cs typeface="Calibri" pitchFamily="34" charset="-120"/>
              </a:rPr>
              <a:t>Monitor error logs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6C63FF"/>
          </a:solidFill>
          <a:ln w="12700">
            <a:solidFill>
              <a:srgbClr val="6C63FF"/>
            </a:solidFill>
            <a:prstDash val="solid"/>
          </a:ln>
        </p:spPr>
      </p:sp>
      <p:sp>
        <p:nvSpPr>
          <p:cNvPr id="3" name="Text 1"/>
          <p:cNvSpPr/>
          <p:nvPr/>
        </p:nvSpPr>
        <p:spPr>
          <a:xfrm>
            <a:off x="457200" y="0"/>
            <a:ext cx="8412480" cy="960120"/>
          </a:xfrm>
          <a:prstGeom prst="rect">
            <a:avLst/>
          </a:prstGeom>
          <a:noFill/>
          <a:ln/>
        </p:spPr>
        <p:txBody>
          <a:bodyPr wrap="square" lIns="0" tIns="0" rIns="0" bIns="0" rtlCol="0" anchor="ctr"/>
          <a:lstStyle/>
          <a:p>
            <a:pPr marL="0" indent="0">
              <a:buNone/>
            </a:pPr>
            <a:r>
              <a:rPr lang="en-US" altLang="en-US" sz="1900" b="1" dirty="0">
                <a:solidFill>
                  <a:srgbClr val="FFFFFF"/>
                </a:solidFill>
                <a:latin typeface="Calibri" pitchFamily="34" charset="0"/>
                <a:ea typeface="Calibri" pitchFamily="34" charset="-122"/>
                <a:cs typeface="Calibri" pitchFamily="34" charset="-120"/>
              </a:rPr>
              <a:t>05  Programming Languages, Tools &amp; Software</a:t>
            </a:r>
            <a:endParaRPr lang="en-US" sz="1900" dirty="0"/>
          </a:p>
        </p:txBody>
      </p:sp>
      <p:sp>
        <p:nvSpPr>
          <p:cNvPr id="4" name="Shape 2"/>
          <p:cNvSpPr/>
          <p:nvPr/>
        </p:nvSpPr>
        <p:spPr>
          <a:xfrm>
            <a:off x="-914400" y="2743200"/>
            <a:ext cx="3657600" cy="3657600"/>
          </a:xfrm>
          <a:prstGeom prst="ellipse">
            <a:avLst/>
          </a:prstGeom>
          <a:solidFill>
            <a:srgbClr val="6C63FF">
              <a:alpha val="10000"/>
            </a:srgbClr>
          </a:solidFill>
          <a:ln w="12700">
            <a:solidFill>
              <a:srgbClr val="6C63FF">
                <a:alpha val="10000"/>
              </a:srgbClr>
            </a:solidFill>
            <a:prstDash val="solid"/>
          </a:ln>
        </p:spPr>
      </p:sp>
      <p:sp>
        <p:nvSpPr>
          <p:cNvPr id="5" name="Shape 3"/>
          <p:cNvSpPr/>
          <p:nvPr/>
        </p:nvSpPr>
        <p:spPr>
          <a:xfrm>
            <a:off x="274320" y="1097280"/>
            <a:ext cx="4023360" cy="1783080"/>
          </a:xfrm>
          <a:prstGeom prst="rect">
            <a:avLst/>
          </a:prstGeom>
          <a:solidFill>
            <a:srgbClr val="1E2A45"/>
          </a:solidFill>
          <a:ln w="12700">
            <a:solidFill>
              <a:srgbClr val="6C63FF">
                <a:alpha val="45000"/>
              </a:srgbClr>
            </a:solidFill>
            <a:prstDash val="solid"/>
          </a:ln>
          <a:effectLst>
            <a:outerShdw blurRad="101600" dist="38100" dir="8100000" algn="bl" rotWithShape="0">
              <a:srgbClr val="000000">
                <a:alpha val="18000"/>
              </a:srgbClr>
            </a:outerShdw>
          </a:effectLst>
        </p:spPr>
      </p:sp>
      <p:sp>
        <p:nvSpPr>
          <p:cNvPr id="6" name="Shape 4"/>
          <p:cNvSpPr/>
          <p:nvPr/>
        </p:nvSpPr>
        <p:spPr>
          <a:xfrm>
            <a:off x="274320" y="1097280"/>
            <a:ext cx="4023360" cy="411480"/>
          </a:xfrm>
          <a:prstGeom prst="rect">
            <a:avLst/>
          </a:prstGeom>
          <a:solidFill>
            <a:srgbClr val="6C63FF">
              <a:alpha val="80000"/>
            </a:srgbClr>
          </a:solidFill>
          <a:ln w="12700">
            <a:solidFill>
              <a:srgbClr val="6C63FF">
                <a:alpha val="80000"/>
              </a:srgbClr>
            </a:solidFill>
            <a:prstDash val="solid"/>
          </a:ln>
        </p:spPr>
      </p:sp>
      <p:sp>
        <p:nvSpPr>
          <p:cNvPr id="7" name="Text 5"/>
          <p:cNvSpPr/>
          <p:nvPr/>
        </p:nvSpPr>
        <p:spPr>
          <a:xfrm>
            <a:off x="365760" y="1097280"/>
            <a:ext cx="3840480" cy="411480"/>
          </a:xfrm>
          <a:prstGeom prst="rect">
            <a:avLst/>
          </a:prstGeom>
          <a:noFill/>
          <a:ln/>
        </p:spPr>
        <p:txBody>
          <a:bodyPr wrap="square" lIns="0" tIns="0" rIns="0" bIns="0" rtlCol="0" anchor="ctr"/>
          <a:lstStyle/>
          <a:p>
            <a:pPr marL="0" indent="0">
              <a:buNone/>
            </a:pPr>
            <a:r>
              <a:rPr lang="en-US" altLang="en-US" sz="1300" b="1" dirty="0">
                <a:solidFill>
                  <a:srgbClr val="FFFFFF"/>
                </a:solidFill>
                <a:latin typeface="Calibri" pitchFamily="34" charset="0"/>
                <a:ea typeface="Calibri" pitchFamily="34" charset="-122"/>
                <a:cs typeface="Calibri" pitchFamily="34" charset="-120"/>
              </a:rPr>
              <a:t>⚙️  Backend</a:t>
            </a:r>
            <a:endParaRPr lang="en-US" sz="1300" dirty="0"/>
          </a:p>
        </p:txBody>
      </p:sp>
      <p:sp>
        <p:nvSpPr>
          <p:cNvPr id="8" name="Text 6"/>
          <p:cNvSpPr/>
          <p:nvPr/>
        </p:nvSpPr>
        <p:spPr>
          <a:xfrm>
            <a:off x="384048" y="1572768"/>
            <a:ext cx="3749040" cy="1188720"/>
          </a:xfrm>
          <a:prstGeom prst="rect">
            <a:avLst/>
          </a:prstGeom>
          <a:noFill/>
          <a:ln/>
        </p:spPr>
        <p:txBody>
          <a:bodyPr wrap="square" numCol="2" rtlCol="0" anchor="ctr"/>
          <a:lstStyle/>
          <a:p>
            <a:pPr marL="228600" indent="-228600">
              <a:buFont typeface="+mj-lt"/>
              <a:buAutoNum type="arabicPeriod"/>
            </a:pPr>
            <a:r>
              <a:rPr lang="en-US" altLang="en-US" sz="1100" dirty="0">
                <a:solidFill>
                  <a:srgbClr val="94A3B8"/>
                </a:solidFill>
                <a:latin typeface="Calibri" pitchFamily="34" charset="0"/>
                <a:ea typeface="Calibri" pitchFamily="34" charset="-122"/>
                <a:cs typeface="Calibri" pitchFamily="34" charset="-120"/>
              </a:rPr>
              <a:t>Node.js   </a:t>
            </a:r>
          </a:p>
          <a:p>
            <a:pPr marL="228600" indent="-228600">
              <a:buFont typeface="+mj-lt"/>
              <a:buAutoNum type="arabicPeriod"/>
            </a:pPr>
            <a:r>
              <a:rPr lang="en-US" altLang="en-US" sz="1100" dirty="0">
                <a:solidFill>
                  <a:srgbClr val="94A3B8"/>
                </a:solidFill>
                <a:latin typeface="Calibri" pitchFamily="34" charset="0"/>
                <a:ea typeface="Calibri" pitchFamily="34" charset="-122"/>
                <a:cs typeface="Calibri" pitchFamily="34" charset="-120"/>
              </a:rPr>
              <a:t>Express.js  </a:t>
            </a:r>
          </a:p>
          <a:p>
            <a:pPr marL="228600" indent="-228600">
              <a:buFont typeface="+mj-lt"/>
              <a:buAutoNum type="arabicPeriod"/>
            </a:pPr>
            <a:r>
              <a:rPr lang="en-US" altLang="en-US" sz="1100" dirty="0" err="1">
                <a:solidFill>
                  <a:srgbClr val="94A3B8"/>
                </a:solidFill>
                <a:latin typeface="Calibri" pitchFamily="34" charset="0"/>
                <a:ea typeface="Calibri" pitchFamily="34" charset="-122"/>
                <a:cs typeface="Calibri" pitchFamily="34" charset="-120"/>
              </a:rPr>
              <a:t>bcryptjs</a:t>
            </a:r>
            <a:r>
              <a:rPr lang="en-US" altLang="en-US" sz="1100" dirty="0">
                <a:solidFill>
                  <a:srgbClr val="94A3B8"/>
                </a:solidFill>
                <a:latin typeface="Calibri" pitchFamily="34" charset="0"/>
                <a:ea typeface="Calibri" pitchFamily="34" charset="-122"/>
                <a:cs typeface="Calibri" pitchFamily="34" charset="-120"/>
              </a:rPr>
              <a:t>   </a:t>
            </a:r>
          </a:p>
          <a:p>
            <a:pPr marL="228600" indent="-228600">
              <a:buFont typeface="+mj-lt"/>
              <a:buAutoNum type="arabicPeriod"/>
            </a:pPr>
            <a:r>
              <a:rPr lang="en-US" altLang="en-US" sz="1100" dirty="0">
                <a:solidFill>
                  <a:srgbClr val="94A3B8"/>
                </a:solidFill>
                <a:latin typeface="Calibri" pitchFamily="34" charset="0"/>
                <a:ea typeface="Calibri" pitchFamily="34" charset="-122"/>
                <a:cs typeface="Calibri" pitchFamily="34" charset="-120"/>
              </a:rPr>
              <a:t>express-session </a:t>
            </a:r>
          </a:p>
          <a:p>
            <a:pPr marL="228600" indent="-228600">
              <a:buFont typeface="+mj-lt"/>
              <a:buAutoNum type="arabicPeriod"/>
            </a:pPr>
            <a:r>
              <a:rPr lang="en-US" altLang="en-US" sz="1100" dirty="0">
                <a:solidFill>
                  <a:srgbClr val="94A3B8"/>
                </a:solidFill>
                <a:latin typeface="Calibri" pitchFamily="34" charset="0"/>
                <a:ea typeface="Calibri" pitchFamily="34" charset="-122"/>
                <a:cs typeface="Calibri" pitchFamily="34" charset="-120"/>
              </a:rPr>
              <a:t>connect-   mongo   ·  </a:t>
            </a:r>
          </a:p>
          <a:p>
            <a:pPr marL="228600" indent="-228600">
              <a:buFont typeface="+mj-lt"/>
              <a:buAutoNum type="arabicPeriod"/>
            </a:pPr>
            <a:r>
              <a:rPr lang="en-US" altLang="en-US" sz="1100" dirty="0">
                <a:solidFill>
                  <a:srgbClr val="94A3B8"/>
                </a:solidFill>
                <a:latin typeface="Calibri" pitchFamily="34" charset="0"/>
                <a:ea typeface="Calibri" pitchFamily="34" charset="-122"/>
                <a:cs typeface="Calibri" pitchFamily="34" charset="-120"/>
              </a:rPr>
              <a:t> method-override</a:t>
            </a:r>
            <a:endParaRPr lang="en-US" sz="1100" dirty="0"/>
          </a:p>
        </p:txBody>
      </p:sp>
      <p:sp>
        <p:nvSpPr>
          <p:cNvPr id="9" name="Shape 7"/>
          <p:cNvSpPr/>
          <p:nvPr/>
        </p:nvSpPr>
        <p:spPr>
          <a:xfrm>
            <a:off x="4709160" y="1097280"/>
            <a:ext cx="4023360" cy="1783080"/>
          </a:xfrm>
          <a:prstGeom prst="rect">
            <a:avLst/>
          </a:prstGeom>
          <a:solidFill>
            <a:srgbClr val="1E2A45"/>
          </a:solidFill>
          <a:ln w="12700">
            <a:solidFill>
              <a:srgbClr val="2563EB">
                <a:alpha val="45000"/>
              </a:srgbClr>
            </a:solidFill>
            <a:prstDash val="solid"/>
          </a:ln>
          <a:effectLst>
            <a:outerShdw blurRad="101600" dist="38100" dir="8100000" algn="bl" rotWithShape="0">
              <a:srgbClr val="000000">
                <a:alpha val="18000"/>
              </a:srgbClr>
            </a:outerShdw>
          </a:effectLst>
        </p:spPr>
      </p:sp>
      <p:sp>
        <p:nvSpPr>
          <p:cNvPr id="10" name="Shape 8"/>
          <p:cNvSpPr/>
          <p:nvPr/>
        </p:nvSpPr>
        <p:spPr>
          <a:xfrm>
            <a:off x="4709160" y="1097280"/>
            <a:ext cx="4023360" cy="411480"/>
          </a:xfrm>
          <a:prstGeom prst="rect">
            <a:avLst/>
          </a:prstGeom>
          <a:solidFill>
            <a:srgbClr val="2563EB">
              <a:alpha val="80000"/>
            </a:srgbClr>
          </a:solidFill>
          <a:ln w="12700">
            <a:solidFill>
              <a:srgbClr val="2563EB">
                <a:alpha val="80000"/>
              </a:srgbClr>
            </a:solidFill>
            <a:prstDash val="solid"/>
          </a:ln>
        </p:spPr>
      </p:sp>
      <p:sp>
        <p:nvSpPr>
          <p:cNvPr id="11" name="Text 9"/>
          <p:cNvSpPr/>
          <p:nvPr/>
        </p:nvSpPr>
        <p:spPr>
          <a:xfrm>
            <a:off x="4800600" y="1097280"/>
            <a:ext cx="3840480" cy="411480"/>
          </a:xfrm>
          <a:prstGeom prst="rect">
            <a:avLst/>
          </a:prstGeom>
          <a:noFill/>
          <a:ln/>
        </p:spPr>
        <p:txBody>
          <a:bodyPr wrap="square" lIns="0" tIns="0" rIns="0" bIns="0" rtlCol="0" anchor="ctr"/>
          <a:lstStyle/>
          <a:p>
            <a:pPr marL="0" indent="0">
              <a:buNone/>
            </a:pPr>
            <a:r>
              <a:rPr lang="en-US" altLang="en-US" sz="1300" b="1" dirty="0">
                <a:solidFill>
                  <a:srgbClr val="FFFFFF"/>
                </a:solidFill>
                <a:latin typeface="Calibri" pitchFamily="34" charset="0"/>
                <a:ea typeface="Calibri" pitchFamily="34" charset="-122"/>
                <a:cs typeface="Calibri" pitchFamily="34" charset="-120"/>
              </a:rPr>
              <a:t>🗄️  Database</a:t>
            </a:r>
            <a:endParaRPr lang="en-US" sz="1300" dirty="0"/>
          </a:p>
        </p:txBody>
      </p:sp>
      <p:sp>
        <p:nvSpPr>
          <p:cNvPr id="12" name="Text 10"/>
          <p:cNvSpPr/>
          <p:nvPr/>
        </p:nvSpPr>
        <p:spPr>
          <a:xfrm>
            <a:off x="4818888" y="1572768"/>
            <a:ext cx="3749040" cy="1188720"/>
          </a:xfrm>
          <a:prstGeom prst="rect">
            <a:avLst/>
          </a:prstGeom>
          <a:noFill/>
          <a:ln/>
        </p:spPr>
        <p:txBody>
          <a:bodyPr wrap="square" rtlCol="0" anchor="ctr"/>
          <a:lstStyle/>
          <a:p>
            <a:pPr marL="228600" indent="-228600">
              <a:buFont typeface="+mj-lt"/>
              <a:buAutoNum type="arabicPeriod"/>
            </a:pPr>
            <a:r>
              <a:rPr lang="en-US" altLang="en-US" sz="1100" dirty="0">
                <a:solidFill>
                  <a:srgbClr val="94A3B8"/>
                </a:solidFill>
                <a:latin typeface="Calibri" pitchFamily="34" charset="0"/>
                <a:ea typeface="Calibri" pitchFamily="34" charset="-122"/>
                <a:cs typeface="Calibri" pitchFamily="34" charset="-120"/>
              </a:rPr>
              <a:t>MongoDB  </a:t>
            </a:r>
          </a:p>
          <a:p>
            <a:pPr marL="228600" indent="-228600">
              <a:buFont typeface="+mj-lt"/>
              <a:buAutoNum type="arabicPeriod"/>
            </a:pPr>
            <a:r>
              <a:rPr lang="en-US" altLang="en-US" sz="1100" dirty="0">
                <a:solidFill>
                  <a:srgbClr val="94A3B8"/>
                </a:solidFill>
                <a:latin typeface="Calibri" pitchFamily="34" charset="0"/>
                <a:ea typeface="Calibri" pitchFamily="34" charset="-122"/>
                <a:cs typeface="Calibri" pitchFamily="34" charset="-120"/>
              </a:rPr>
              <a:t>Mongoose ODM    </a:t>
            </a:r>
          </a:p>
          <a:p>
            <a:pPr marL="228600" indent="-228600">
              <a:buFont typeface="+mj-lt"/>
              <a:buAutoNum type="arabicPeriod"/>
            </a:pPr>
            <a:r>
              <a:rPr lang="en-US" altLang="en-US" sz="1100" dirty="0">
                <a:solidFill>
                  <a:srgbClr val="94A3B8"/>
                </a:solidFill>
                <a:latin typeface="Calibri" pitchFamily="34" charset="0"/>
                <a:ea typeface="Calibri" pitchFamily="34" charset="-122"/>
                <a:cs typeface="Calibri" pitchFamily="34" charset="-120"/>
              </a:rPr>
              <a:t>connect-mongo   </a:t>
            </a:r>
          </a:p>
          <a:p>
            <a:pPr marL="228600" indent="-228600">
              <a:buFont typeface="+mj-lt"/>
              <a:buAutoNum type="arabicPeriod"/>
            </a:pPr>
            <a:r>
              <a:rPr lang="en-US" altLang="en-US" sz="1100" dirty="0">
                <a:solidFill>
                  <a:srgbClr val="94A3B8"/>
                </a:solidFill>
                <a:latin typeface="Calibri" pitchFamily="34" charset="0"/>
                <a:ea typeface="Calibri" pitchFamily="34" charset="-122"/>
                <a:cs typeface="Calibri" pitchFamily="34" charset="-120"/>
              </a:rPr>
              <a:t>MongoDB Compass    </a:t>
            </a:r>
          </a:p>
          <a:p>
            <a:pPr marL="228600" indent="-228600">
              <a:buFont typeface="+mj-lt"/>
              <a:buAutoNum type="arabicPeriod"/>
            </a:pPr>
            <a:r>
              <a:rPr lang="en-US" altLang="en-US" sz="1100" dirty="0">
                <a:solidFill>
                  <a:srgbClr val="94A3B8"/>
                </a:solidFill>
                <a:latin typeface="Calibri" pitchFamily="34" charset="0"/>
                <a:ea typeface="Calibri" pitchFamily="34" charset="-122"/>
                <a:cs typeface="Calibri" pitchFamily="34" charset="-120"/>
              </a:rPr>
              <a:t>Local / Atlas</a:t>
            </a:r>
            <a:endParaRPr lang="en-US" sz="1100" dirty="0"/>
          </a:p>
        </p:txBody>
      </p:sp>
      <p:sp>
        <p:nvSpPr>
          <p:cNvPr id="13" name="Shape 11"/>
          <p:cNvSpPr/>
          <p:nvPr/>
        </p:nvSpPr>
        <p:spPr>
          <a:xfrm>
            <a:off x="274320" y="3090672"/>
            <a:ext cx="4023360" cy="1783080"/>
          </a:xfrm>
          <a:prstGeom prst="rect">
            <a:avLst/>
          </a:prstGeom>
          <a:solidFill>
            <a:srgbClr val="1E2A45"/>
          </a:solidFill>
          <a:ln w="12700">
            <a:solidFill>
              <a:srgbClr val="2ECC71">
                <a:alpha val="45000"/>
              </a:srgbClr>
            </a:solidFill>
            <a:prstDash val="solid"/>
          </a:ln>
          <a:effectLst>
            <a:outerShdw blurRad="101600" dist="38100" dir="8100000" algn="bl" rotWithShape="0">
              <a:srgbClr val="000000">
                <a:alpha val="18000"/>
              </a:srgbClr>
            </a:outerShdw>
          </a:effectLst>
        </p:spPr>
      </p:sp>
      <p:sp>
        <p:nvSpPr>
          <p:cNvPr id="14" name="Shape 12"/>
          <p:cNvSpPr/>
          <p:nvPr/>
        </p:nvSpPr>
        <p:spPr>
          <a:xfrm>
            <a:off x="274320" y="3090672"/>
            <a:ext cx="4023360" cy="411480"/>
          </a:xfrm>
          <a:prstGeom prst="rect">
            <a:avLst/>
          </a:prstGeom>
          <a:solidFill>
            <a:srgbClr val="2ECC71">
              <a:alpha val="80000"/>
            </a:srgbClr>
          </a:solidFill>
          <a:ln w="12700">
            <a:solidFill>
              <a:srgbClr val="2ECC71">
                <a:alpha val="80000"/>
              </a:srgbClr>
            </a:solidFill>
            <a:prstDash val="solid"/>
          </a:ln>
        </p:spPr>
      </p:sp>
      <p:sp>
        <p:nvSpPr>
          <p:cNvPr id="15" name="Text 13"/>
          <p:cNvSpPr/>
          <p:nvPr/>
        </p:nvSpPr>
        <p:spPr>
          <a:xfrm>
            <a:off x="365760" y="3090672"/>
            <a:ext cx="3840480" cy="411480"/>
          </a:xfrm>
          <a:prstGeom prst="rect">
            <a:avLst/>
          </a:prstGeom>
          <a:noFill/>
          <a:ln/>
        </p:spPr>
        <p:txBody>
          <a:bodyPr wrap="square" lIns="0" tIns="0" rIns="0" bIns="0" rtlCol="0" anchor="ctr"/>
          <a:lstStyle/>
          <a:p>
            <a:pPr marL="0" indent="0">
              <a:buNone/>
            </a:pPr>
            <a:r>
              <a:rPr lang="en-US" altLang="en-US" sz="1300" b="1" dirty="0">
                <a:solidFill>
                  <a:srgbClr val="FFFFFF"/>
                </a:solidFill>
                <a:latin typeface="Calibri" pitchFamily="34" charset="0"/>
                <a:ea typeface="Calibri" pitchFamily="34" charset="-122"/>
                <a:cs typeface="Calibri" pitchFamily="34" charset="-120"/>
              </a:rPr>
              <a:t>🎨  Frontend</a:t>
            </a:r>
            <a:endParaRPr lang="en-US" sz="1300" dirty="0"/>
          </a:p>
        </p:txBody>
      </p:sp>
      <p:sp>
        <p:nvSpPr>
          <p:cNvPr id="16" name="Text 14"/>
          <p:cNvSpPr/>
          <p:nvPr/>
        </p:nvSpPr>
        <p:spPr>
          <a:xfrm>
            <a:off x="384048" y="3566160"/>
            <a:ext cx="3749040" cy="1188720"/>
          </a:xfrm>
          <a:prstGeom prst="rect">
            <a:avLst/>
          </a:prstGeom>
          <a:noFill/>
          <a:ln/>
        </p:spPr>
        <p:txBody>
          <a:bodyPr wrap="square" rtlCol="0" anchor="ctr"/>
          <a:lstStyle/>
          <a:p>
            <a:pPr marL="228600" indent="-228600">
              <a:buFont typeface="+mj-lt"/>
              <a:buAutoNum type="arabicPeriod"/>
            </a:pPr>
            <a:r>
              <a:rPr lang="en-US" altLang="en-US" sz="1100" dirty="0">
                <a:solidFill>
                  <a:srgbClr val="94A3B8"/>
                </a:solidFill>
                <a:latin typeface="Calibri" pitchFamily="34" charset="0"/>
                <a:ea typeface="Calibri" pitchFamily="34" charset="-122"/>
                <a:cs typeface="Calibri" pitchFamily="34" charset="-120"/>
              </a:rPr>
              <a:t>EJS Templates   ·  </a:t>
            </a:r>
          </a:p>
          <a:p>
            <a:pPr marL="228600" indent="-228600">
              <a:buFont typeface="+mj-lt"/>
              <a:buAutoNum type="arabicPeriod"/>
            </a:pPr>
            <a:r>
              <a:rPr lang="en-US" altLang="en-US" sz="1100" dirty="0">
                <a:solidFill>
                  <a:srgbClr val="94A3B8"/>
                </a:solidFill>
                <a:latin typeface="Calibri" pitchFamily="34" charset="0"/>
                <a:ea typeface="Calibri" pitchFamily="34" charset="-122"/>
                <a:cs typeface="Calibri" pitchFamily="34" charset="-120"/>
              </a:rPr>
              <a:t>Custom CSS3   ·   </a:t>
            </a:r>
          </a:p>
          <a:p>
            <a:pPr marL="228600" indent="-228600">
              <a:buFont typeface="+mj-lt"/>
              <a:buAutoNum type="arabicPeriod"/>
            </a:pPr>
            <a:r>
              <a:rPr lang="en-US" altLang="en-US" sz="1100" dirty="0">
                <a:solidFill>
                  <a:srgbClr val="94A3B8"/>
                </a:solidFill>
                <a:latin typeface="Calibri" pitchFamily="34" charset="0"/>
                <a:ea typeface="Calibri" pitchFamily="34" charset="-122"/>
                <a:cs typeface="Calibri" pitchFamily="34" charset="-120"/>
              </a:rPr>
              <a:t>Chart.js   ·   </a:t>
            </a:r>
          </a:p>
          <a:p>
            <a:pPr marL="228600" indent="-228600">
              <a:buFont typeface="+mj-lt"/>
              <a:buAutoNum type="arabicPeriod"/>
            </a:pPr>
            <a:r>
              <a:rPr lang="en-US" altLang="en-US" sz="1100" dirty="0">
                <a:solidFill>
                  <a:srgbClr val="94A3B8"/>
                </a:solidFill>
                <a:latin typeface="Calibri" pitchFamily="34" charset="0"/>
                <a:ea typeface="Calibri" pitchFamily="34" charset="-122"/>
                <a:cs typeface="Calibri" pitchFamily="34" charset="-120"/>
              </a:rPr>
              <a:t>Font Awesome 6   ·   </a:t>
            </a:r>
          </a:p>
          <a:p>
            <a:pPr marL="228600" indent="-228600">
              <a:buFont typeface="+mj-lt"/>
              <a:buAutoNum type="arabicPeriod"/>
            </a:pPr>
            <a:r>
              <a:rPr lang="en-US" altLang="en-US" sz="1100" dirty="0">
                <a:solidFill>
                  <a:srgbClr val="94A3B8"/>
                </a:solidFill>
                <a:latin typeface="Calibri" pitchFamily="34" charset="0"/>
                <a:ea typeface="Calibri" pitchFamily="34" charset="-122"/>
                <a:cs typeface="Calibri" pitchFamily="34" charset="-120"/>
              </a:rPr>
              <a:t>Responsive Grid</a:t>
            </a:r>
            <a:endParaRPr lang="en-US" sz="1100" dirty="0"/>
          </a:p>
        </p:txBody>
      </p:sp>
      <p:sp>
        <p:nvSpPr>
          <p:cNvPr id="17" name="Shape 15"/>
          <p:cNvSpPr/>
          <p:nvPr/>
        </p:nvSpPr>
        <p:spPr>
          <a:xfrm>
            <a:off x="4709160" y="3090672"/>
            <a:ext cx="4023360" cy="1783080"/>
          </a:xfrm>
          <a:prstGeom prst="rect">
            <a:avLst/>
          </a:prstGeom>
          <a:solidFill>
            <a:srgbClr val="1E2A45"/>
          </a:solidFill>
          <a:ln w="12700">
            <a:solidFill>
              <a:srgbClr val="F59E0B">
                <a:alpha val="45000"/>
              </a:srgbClr>
            </a:solidFill>
            <a:prstDash val="solid"/>
          </a:ln>
          <a:effectLst>
            <a:outerShdw blurRad="101600" dist="38100" dir="8100000" algn="bl" rotWithShape="0">
              <a:srgbClr val="000000">
                <a:alpha val="18000"/>
              </a:srgbClr>
            </a:outerShdw>
          </a:effectLst>
        </p:spPr>
      </p:sp>
      <p:sp>
        <p:nvSpPr>
          <p:cNvPr id="18" name="Shape 16"/>
          <p:cNvSpPr/>
          <p:nvPr/>
        </p:nvSpPr>
        <p:spPr>
          <a:xfrm>
            <a:off x="4709160" y="3090672"/>
            <a:ext cx="4023360" cy="411480"/>
          </a:xfrm>
          <a:prstGeom prst="rect">
            <a:avLst/>
          </a:prstGeom>
          <a:solidFill>
            <a:srgbClr val="F59E0B">
              <a:alpha val="80000"/>
            </a:srgbClr>
          </a:solidFill>
          <a:ln w="12700">
            <a:solidFill>
              <a:srgbClr val="F59E0B">
                <a:alpha val="80000"/>
              </a:srgbClr>
            </a:solidFill>
            <a:prstDash val="solid"/>
          </a:ln>
        </p:spPr>
      </p:sp>
      <p:sp>
        <p:nvSpPr>
          <p:cNvPr id="19" name="Text 17"/>
          <p:cNvSpPr/>
          <p:nvPr/>
        </p:nvSpPr>
        <p:spPr>
          <a:xfrm>
            <a:off x="4800600" y="3090672"/>
            <a:ext cx="3840480" cy="411480"/>
          </a:xfrm>
          <a:prstGeom prst="rect">
            <a:avLst/>
          </a:prstGeom>
          <a:noFill/>
          <a:ln/>
        </p:spPr>
        <p:txBody>
          <a:bodyPr wrap="square" lIns="0" tIns="0" rIns="0" bIns="0" rtlCol="0" anchor="ctr"/>
          <a:lstStyle/>
          <a:p>
            <a:pPr marL="0" indent="0">
              <a:buNone/>
            </a:pPr>
            <a:r>
              <a:rPr lang="en-US" altLang="en-US" sz="1300" b="1" dirty="0">
                <a:solidFill>
                  <a:srgbClr val="FFFFFF"/>
                </a:solidFill>
                <a:latin typeface="Calibri" pitchFamily="34" charset="0"/>
                <a:ea typeface="Calibri" pitchFamily="34" charset="-122"/>
                <a:cs typeface="Calibri" pitchFamily="34" charset="-120"/>
              </a:rPr>
              <a:t>🛠️  Tools / Env</a:t>
            </a:r>
            <a:endParaRPr lang="en-US" sz="1300" dirty="0"/>
          </a:p>
        </p:txBody>
      </p:sp>
      <p:sp>
        <p:nvSpPr>
          <p:cNvPr id="20" name="Text 18"/>
          <p:cNvSpPr/>
          <p:nvPr/>
        </p:nvSpPr>
        <p:spPr>
          <a:xfrm>
            <a:off x="4818888" y="3566160"/>
            <a:ext cx="3749040" cy="1188720"/>
          </a:xfrm>
          <a:prstGeom prst="rect">
            <a:avLst/>
          </a:prstGeom>
          <a:noFill/>
          <a:ln/>
        </p:spPr>
        <p:txBody>
          <a:bodyPr wrap="square" rtlCol="0" anchor="ctr"/>
          <a:lstStyle/>
          <a:p>
            <a:pPr marL="228600" indent="-228600">
              <a:buFont typeface="+mj-lt"/>
              <a:buAutoNum type="arabicPeriod"/>
            </a:pPr>
            <a:r>
              <a:rPr lang="en-US" altLang="en-US" sz="1100" dirty="0">
                <a:solidFill>
                  <a:srgbClr val="94A3B8"/>
                </a:solidFill>
                <a:latin typeface="Calibri" pitchFamily="34" charset="0"/>
                <a:ea typeface="Calibri" pitchFamily="34" charset="-122"/>
                <a:cs typeface="Calibri" pitchFamily="34" charset="-120"/>
              </a:rPr>
              <a:t>VS Code   </a:t>
            </a:r>
          </a:p>
          <a:p>
            <a:pPr marL="228600" indent="-228600">
              <a:buFont typeface="+mj-lt"/>
              <a:buAutoNum type="arabicPeriod"/>
            </a:pPr>
            <a:r>
              <a:rPr lang="en-US" altLang="en-US" sz="1100" dirty="0" err="1">
                <a:solidFill>
                  <a:srgbClr val="94A3B8"/>
                </a:solidFill>
                <a:latin typeface="Calibri" pitchFamily="34" charset="0"/>
                <a:ea typeface="Calibri" pitchFamily="34" charset="-122"/>
                <a:cs typeface="Calibri" pitchFamily="34" charset="-120"/>
              </a:rPr>
              <a:t>nodemon</a:t>
            </a:r>
            <a:r>
              <a:rPr lang="en-US" altLang="en-US" sz="1100" dirty="0">
                <a:solidFill>
                  <a:srgbClr val="94A3B8"/>
                </a:solidFill>
                <a:latin typeface="Calibri" pitchFamily="34" charset="0"/>
                <a:ea typeface="Calibri" pitchFamily="34" charset="-122"/>
                <a:cs typeface="Calibri" pitchFamily="34" charset="-120"/>
              </a:rPr>
              <a:t>  </a:t>
            </a:r>
          </a:p>
          <a:p>
            <a:pPr marL="228600" indent="-228600">
              <a:buFont typeface="+mj-lt"/>
              <a:buAutoNum type="arabicPeriod"/>
            </a:pPr>
            <a:r>
              <a:rPr lang="en-US" altLang="en-US" sz="1100" dirty="0" err="1">
                <a:solidFill>
                  <a:srgbClr val="94A3B8"/>
                </a:solidFill>
                <a:latin typeface="Calibri" pitchFamily="34" charset="0"/>
                <a:ea typeface="Calibri" pitchFamily="34" charset="-122"/>
                <a:cs typeface="Calibri" pitchFamily="34" charset="-120"/>
              </a:rPr>
              <a:t>dotenv</a:t>
            </a:r>
            <a:r>
              <a:rPr lang="en-US" altLang="en-US" sz="1100" dirty="0">
                <a:solidFill>
                  <a:srgbClr val="94A3B8"/>
                </a:solidFill>
                <a:latin typeface="Calibri" pitchFamily="34" charset="0"/>
                <a:ea typeface="Calibri" pitchFamily="34" charset="-122"/>
                <a:cs typeface="Calibri" pitchFamily="34" charset="-120"/>
              </a:rPr>
              <a:t>   </a:t>
            </a:r>
          </a:p>
          <a:p>
            <a:pPr marL="228600" indent="-228600">
              <a:buFont typeface="+mj-lt"/>
              <a:buAutoNum type="arabicPeriod"/>
            </a:pPr>
            <a:r>
              <a:rPr lang="en-US" altLang="en-US" sz="1100" dirty="0">
                <a:solidFill>
                  <a:srgbClr val="94A3B8"/>
                </a:solidFill>
                <a:latin typeface="Calibri" pitchFamily="34" charset="0"/>
                <a:ea typeface="Calibri" pitchFamily="34" charset="-122"/>
                <a:cs typeface="Calibri" pitchFamily="34" charset="-120"/>
              </a:rPr>
              <a:t>Git &amp; GitHub   </a:t>
            </a:r>
          </a:p>
          <a:p>
            <a:pPr marL="228600" indent="-228600">
              <a:buFont typeface="+mj-lt"/>
              <a:buAutoNum type="arabicPeriod"/>
            </a:pPr>
            <a:r>
              <a:rPr lang="en-US" altLang="en-US" sz="1100" dirty="0">
                <a:solidFill>
                  <a:srgbClr val="94A3B8"/>
                </a:solidFill>
                <a:latin typeface="Calibri" pitchFamily="34" charset="0"/>
                <a:ea typeface="Calibri" pitchFamily="34" charset="-122"/>
                <a:cs typeface="Calibri" pitchFamily="34" charset="-120"/>
              </a:rPr>
              <a:t>Postman   </a:t>
            </a:r>
          </a:p>
          <a:p>
            <a:pPr marL="228600" indent="-228600">
              <a:buFont typeface="+mj-lt"/>
              <a:buAutoNum type="arabicPeriod"/>
            </a:pPr>
            <a:r>
              <a:rPr lang="en-US" altLang="en-US" sz="1100" dirty="0" err="1">
                <a:solidFill>
                  <a:srgbClr val="94A3B8"/>
                </a:solidFill>
                <a:latin typeface="Calibri" pitchFamily="34" charset="0"/>
                <a:ea typeface="Calibri" pitchFamily="34" charset="-122"/>
                <a:cs typeface="Calibri" pitchFamily="34" charset="-120"/>
              </a:rPr>
              <a:t>npm</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6C63FF">
              <a:alpha val="12000"/>
            </a:srgbClr>
          </a:solidFill>
          <a:ln w="12700">
            <a:solidFill>
              <a:srgbClr val="6C63FF">
                <a:alpha val="12000"/>
              </a:srgbClr>
            </a:solidFill>
            <a:prstDash val="solid"/>
          </a:ln>
        </p:spPr>
      </p:sp>
      <p:sp>
        <p:nvSpPr>
          <p:cNvPr id="3" name="Shape 1"/>
          <p:cNvSpPr/>
          <p:nvPr/>
        </p:nvSpPr>
        <p:spPr>
          <a:xfrm>
            <a:off x="0" y="0"/>
            <a:ext cx="9144000" cy="960120"/>
          </a:xfrm>
          <a:prstGeom prst="rect">
            <a:avLst/>
          </a:prstGeom>
          <a:solidFill>
            <a:srgbClr val="6C63FF"/>
          </a:solidFill>
          <a:ln w="12700">
            <a:solidFill>
              <a:srgbClr val="6C63FF"/>
            </a:solidFill>
            <a:prstDash val="solid"/>
          </a:ln>
        </p:spPr>
      </p:sp>
      <p:sp>
        <p:nvSpPr>
          <p:cNvPr id="4" name="Text 2"/>
          <p:cNvSpPr/>
          <p:nvPr/>
        </p:nvSpPr>
        <p:spPr>
          <a:xfrm>
            <a:off x="457200" y="0"/>
            <a:ext cx="8229600" cy="960120"/>
          </a:xfrm>
          <a:prstGeom prst="rect">
            <a:avLst/>
          </a:prstGeom>
          <a:noFill/>
          <a:ln/>
        </p:spPr>
        <p:txBody>
          <a:bodyPr wrap="square" lIns="0" tIns="0" rIns="0" bIns="0" rtlCol="0" anchor="ctr"/>
          <a:lstStyle/>
          <a:p>
            <a:pPr marL="0" indent="0">
              <a:buNone/>
            </a:pPr>
            <a:r>
              <a:rPr lang="en-US" altLang="en-US" sz="2000" b="1" dirty="0">
                <a:solidFill>
                  <a:srgbClr val="FFFFFF"/>
                </a:solidFill>
                <a:latin typeface="Calibri" pitchFamily="34" charset="0"/>
                <a:ea typeface="Calibri" pitchFamily="34" charset="-122"/>
                <a:cs typeface="Calibri" pitchFamily="34" charset="-120"/>
              </a:rPr>
              <a:t>06  Prompts Used — Part 1  (P1–P3)</a:t>
            </a:r>
            <a:endParaRPr lang="en-US" sz="2000" dirty="0"/>
          </a:p>
        </p:txBody>
      </p:sp>
      <p:sp>
        <p:nvSpPr>
          <p:cNvPr id="5" name="Text 3"/>
          <p:cNvSpPr/>
          <p:nvPr/>
        </p:nvSpPr>
        <p:spPr>
          <a:xfrm>
            <a:off x="457200" y="1005840"/>
            <a:ext cx="8229600" cy="274320"/>
          </a:xfrm>
          <a:prstGeom prst="rect">
            <a:avLst/>
          </a:prstGeom>
          <a:noFill/>
          <a:ln/>
        </p:spPr>
        <p:txBody>
          <a:bodyPr wrap="square" lIns="0" tIns="0" rIns="0" bIns="0" rtlCol="0" anchor="ctr"/>
          <a:lstStyle/>
          <a:p>
            <a:pPr marL="0" indent="0">
              <a:buNone/>
            </a:pPr>
            <a:r>
              <a:rPr lang="en-US" altLang="en-US" sz="1050" dirty="0">
                <a:solidFill>
                  <a:srgbClr val="94A3B8"/>
                </a:solidFill>
                <a:latin typeface="Calibri" pitchFamily="34" charset="0"/>
                <a:ea typeface="Calibri" pitchFamily="34" charset="-122"/>
                <a:cs typeface="Calibri" pitchFamily="34" charset="-120"/>
              </a:rPr>
              <a:t>💬 AI Prompts Used to Generate the Code</a:t>
            </a:r>
            <a:endParaRPr lang="en-US" sz="1050" dirty="0"/>
          </a:p>
        </p:txBody>
      </p:sp>
      <p:sp>
        <p:nvSpPr>
          <p:cNvPr id="6" name="Shape 4"/>
          <p:cNvSpPr/>
          <p:nvPr/>
        </p:nvSpPr>
        <p:spPr>
          <a:xfrm>
            <a:off x="320040" y="1371600"/>
            <a:ext cx="8503920" cy="1051560"/>
          </a:xfrm>
          <a:prstGeom prst="rect">
            <a:avLst/>
          </a:prstGeom>
          <a:solidFill>
            <a:srgbClr val="1E2A45"/>
          </a:solidFill>
          <a:ln w="12700">
            <a:solidFill>
              <a:srgbClr val="6C63FF">
                <a:alpha val="40000"/>
              </a:srgbClr>
            </a:solidFill>
            <a:prstDash val="solid"/>
          </a:ln>
          <a:effectLst>
            <a:outerShdw blurRad="101600" dist="38100" dir="8100000" algn="bl" rotWithShape="0">
              <a:srgbClr val="000000">
                <a:alpha val="18000"/>
              </a:srgbClr>
            </a:outerShdw>
          </a:effectLst>
        </p:spPr>
      </p:sp>
      <p:sp>
        <p:nvSpPr>
          <p:cNvPr id="7" name="Shape 5"/>
          <p:cNvSpPr/>
          <p:nvPr/>
        </p:nvSpPr>
        <p:spPr>
          <a:xfrm>
            <a:off x="320040" y="1371600"/>
            <a:ext cx="457200" cy="1051560"/>
          </a:xfrm>
          <a:prstGeom prst="rect">
            <a:avLst/>
          </a:prstGeom>
          <a:solidFill>
            <a:srgbClr val="6C63FF">
              <a:alpha val="75000"/>
            </a:srgbClr>
          </a:solidFill>
          <a:ln w="12700">
            <a:solidFill>
              <a:srgbClr val="6C63FF">
                <a:alpha val="75000"/>
              </a:srgbClr>
            </a:solidFill>
            <a:prstDash val="solid"/>
          </a:ln>
        </p:spPr>
      </p:sp>
      <p:sp>
        <p:nvSpPr>
          <p:cNvPr id="8" name="Text 6"/>
          <p:cNvSpPr/>
          <p:nvPr/>
        </p:nvSpPr>
        <p:spPr>
          <a:xfrm>
            <a:off x="320040" y="1371600"/>
            <a:ext cx="457200" cy="1051560"/>
          </a:xfrm>
          <a:prstGeom prst="rect">
            <a:avLst/>
          </a:prstGeom>
          <a:noFill/>
          <a:ln/>
        </p:spPr>
        <p:txBody>
          <a:bodyPr wrap="square" rtlCol="0" anchor="ctr"/>
          <a:lstStyle/>
          <a:p>
            <a:pPr marL="0" indent="0" algn="ctr">
              <a:buNone/>
            </a:pPr>
            <a:r>
              <a:rPr lang="en-US" altLang="en-US" sz="1100" b="1" dirty="0">
                <a:solidFill>
                  <a:srgbClr val="FFFFFF"/>
                </a:solidFill>
                <a:latin typeface="Calibri" pitchFamily="34" charset="0"/>
                <a:ea typeface="Calibri" pitchFamily="34" charset="-122"/>
                <a:cs typeface="Calibri" pitchFamily="34" charset="-120"/>
              </a:rPr>
              <a:t>P1</a:t>
            </a:r>
            <a:endParaRPr lang="en-US" sz="1100" dirty="0"/>
          </a:p>
        </p:txBody>
      </p:sp>
      <p:sp>
        <p:nvSpPr>
          <p:cNvPr id="9" name="Text 7"/>
          <p:cNvSpPr/>
          <p:nvPr/>
        </p:nvSpPr>
        <p:spPr>
          <a:xfrm>
            <a:off x="868680" y="1463040"/>
            <a:ext cx="7818120" cy="868680"/>
          </a:xfrm>
          <a:prstGeom prst="rect">
            <a:avLst/>
          </a:prstGeom>
          <a:noFill/>
          <a:ln/>
        </p:spPr>
        <p:txBody>
          <a:bodyPr wrap="square" rtlCol="0" anchor="t"/>
          <a:lstStyle/>
          <a:p>
            <a:pPr marL="0" indent="0">
              <a:buNone/>
            </a:pPr>
            <a:r>
              <a:rPr lang="en-US" altLang="en-US" sz="1200" dirty="0">
                <a:solidFill>
                  <a:srgbClr val="CBD5E1"/>
                </a:solidFill>
                <a:latin typeface="Calibri" pitchFamily="34" charset="0"/>
                <a:ea typeface="Calibri" pitchFamily="34" charset="-122"/>
                <a:cs typeface="Calibri" pitchFamily="34" charset="-120"/>
              </a:rPr>
              <a:t>Build a full-stack web application named "Dwell Core – Smart Apartment Management System" using Node.js (Express) and MongoDB. The system must support Admin and Resident roles with authentication, role-based access, and CRUD operations.</a:t>
            </a:r>
            <a:endParaRPr lang="en-US" sz="1200" dirty="0"/>
          </a:p>
        </p:txBody>
      </p:sp>
      <p:sp>
        <p:nvSpPr>
          <p:cNvPr id="10" name="Shape 8"/>
          <p:cNvSpPr/>
          <p:nvPr/>
        </p:nvSpPr>
        <p:spPr>
          <a:xfrm>
            <a:off x="320040" y="2560320"/>
            <a:ext cx="8503920" cy="1051560"/>
          </a:xfrm>
          <a:prstGeom prst="rect">
            <a:avLst/>
          </a:prstGeom>
          <a:solidFill>
            <a:srgbClr val="1E2A45"/>
          </a:solidFill>
          <a:ln w="12700">
            <a:solidFill>
              <a:srgbClr val="6C63FF">
                <a:alpha val="40000"/>
              </a:srgbClr>
            </a:solidFill>
            <a:prstDash val="solid"/>
          </a:ln>
          <a:effectLst>
            <a:outerShdw blurRad="101600" dist="38100" dir="8100000" algn="bl" rotWithShape="0">
              <a:srgbClr val="000000">
                <a:alpha val="18000"/>
              </a:srgbClr>
            </a:outerShdw>
          </a:effectLst>
        </p:spPr>
      </p:sp>
      <p:sp>
        <p:nvSpPr>
          <p:cNvPr id="11" name="Shape 9"/>
          <p:cNvSpPr/>
          <p:nvPr/>
        </p:nvSpPr>
        <p:spPr>
          <a:xfrm>
            <a:off x="320040" y="2560320"/>
            <a:ext cx="457200" cy="1051560"/>
          </a:xfrm>
          <a:prstGeom prst="rect">
            <a:avLst/>
          </a:prstGeom>
          <a:solidFill>
            <a:srgbClr val="6C63FF">
              <a:alpha val="75000"/>
            </a:srgbClr>
          </a:solidFill>
          <a:ln w="12700">
            <a:solidFill>
              <a:srgbClr val="6C63FF">
                <a:alpha val="75000"/>
              </a:srgbClr>
            </a:solidFill>
            <a:prstDash val="solid"/>
          </a:ln>
        </p:spPr>
      </p:sp>
      <p:sp>
        <p:nvSpPr>
          <p:cNvPr id="12" name="Text 10"/>
          <p:cNvSpPr/>
          <p:nvPr/>
        </p:nvSpPr>
        <p:spPr>
          <a:xfrm>
            <a:off x="320040" y="2560320"/>
            <a:ext cx="457200" cy="1051560"/>
          </a:xfrm>
          <a:prstGeom prst="rect">
            <a:avLst/>
          </a:prstGeom>
          <a:noFill/>
          <a:ln/>
        </p:spPr>
        <p:txBody>
          <a:bodyPr wrap="square" rtlCol="0" anchor="ctr"/>
          <a:lstStyle/>
          <a:p>
            <a:pPr marL="0" indent="0" algn="ctr">
              <a:buNone/>
            </a:pPr>
            <a:r>
              <a:rPr lang="en-US" altLang="en-US" sz="1100" b="1" dirty="0">
                <a:solidFill>
                  <a:srgbClr val="FFFFFF"/>
                </a:solidFill>
                <a:latin typeface="Calibri" pitchFamily="34" charset="0"/>
                <a:ea typeface="Calibri" pitchFamily="34" charset="-122"/>
                <a:cs typeface="Calibri" pitchFamily="34" charset="-120"/>
              </a:rPr>
              <a:t>P2</a:t>
            </a:r>
            <a:endParaRPr lang="en-US" sz="1100" dirty="0"/>
          </a:p>
        </p:txBody>
      </p:sp>
      <p:sp>
        <p:nvSpPr>
          <p:cNvPr id="13" name="Text 11"/>
          <p:cNvSpPr/>
          <p:nvPr/>
        </p:nvSpPr>
        <p:spPr>
          <a:xfrm>
            <a:off x="868680" y="2651760"/>
            <a:ext cx="7818120" cy="868680"/>
          </a:xfrm>
          <a:prstGeom prst="rect">
            <a:avLst/>
          </a:prstGeom>
          <a:noFill/>
          <a:ln/>
        </p:spPr>
        <p:txBody>
          <a:bodyPr wrap="square" rtlCol="0" anchor="t"/>
          <a:lstStyle/>
          <a:p>
            <a:pPr marL="0" indent="0">
              <a:buNone/>
            </a:pPr>
            <a:r>
              <a:rPr lang="en-US" altLang="en-US" sz="1200" dirty="0">
                <a:solidFill>
                  <a:srgbClr val="CBD5E1"/>
                </a:solidFill>
                <a:latin typeface="Calibri" pitchFamily="34" charset="0"/>
                <a:ea typeface="Calibri" pitchFamily="34" charset="-122"/>
                <a:cs typeface="Calibri" pitchFamily="34" charset="-120"/>
              </a:rPr>
              <a:t>The UI should be colorful, responsive, and include background images for every page (dashboard, complaints, bills, notices).</a:t>
            </a:r>
            <a:endParaRPr lang="en-US" sz="1200" dirty="0"/>
          </a:p>
        </p:txBody>
      </p:sp>
      <p:sp>
        <p:nvSpPr>
          <p:cNvPr id="14" name="Shape 12"/>
          <p:cNvSpPr/>
          <p:nvPr/>
        </p:nvSpPr>
        <p:spPr>
          <a:xfrm>
            <a:off x="320040" y="3749040"/>
            <a:ext cx="8503920" cy="1051560"/>
          </a:xfrm>
          <a:prstGeom prst="rect">
            <a:avLst/>
          </a:prstGeom>
          <a:solidFill>
            <a:srgbClr val="1E2A45"/>
          </a:solidFill>
          <a:ln w="12700">
            <a:solidFill>
              <a:srgbClr val="6C63FF">
                <a:alpha val="40000"/>
              </a:srgbClr>
            </a:solidFill>
            <a:prstDash val="solid"/>
          </a:ln>
          <a:effectLst>
            <a:outerShdw blurRad="101600" dist="38100" dir="8100000" algn="bl" rotWithShape="0">
              <a:srgbClr val="000000">
                <a:alpha val="18000"/>
              </a:srgbClr>
            </a:outerShdw>
          </a:effectLst>
        </p:spPr>
      </p:sp>
      <p:sp>
        <p:nvSpPr>
          <p:cNvPr id="15" name="Shape 13"/>
          <p:cNvSpPr/>
          <p:nvPr/>
        </p:nvSpPr>
        <p:spPr>
          <a:xfrm>
            <a:off x="320040" y="3749040"/>
            <a:ext cx="457200" cy="1051560"/>
          </a:xfrm>
          <a:prstGeom prst="rect">
            <a:avLst/>
          </a:prstGeom>
          <a:solidFill>
            <a:srgbClr val="6C63FF">
              <a:alpha val="75000"/>
            </a:srgbClr>
          </a:solidFill>
          <a:ln w="12700">
            <a:solidFill>
              <a:srgbClr val="6C63FF">
                <a:alpha val="75000"/>
              </a:srgbClr>
            </a:solidFill>
            <a:prstDash val="solid"/>
          </a:ln>
        </p:spPr>
      </p:sp>
      <p:sp>
        <p:nvSpPr>
          <p:cNvPr id="16" name="Text 14"/>
          <p:cNvSpPr/>
          <p:nvPr/>
        </p:nvSpPr>
        <p:spPr>
          <a:xfrm>
            <a:off x="320040" y="3749040"/>
            <a:ext cx="457200" cy="1051560"/>
          </a:xfrm>
          <a:prstGeom prst="rect">
            <a:avLst/>
          </a:prstGeom>
          <a:noFill/>
          <a:ln/>
        </p:spPr>
        <p:txBody>
          <a:bodyPr wrap="square" rtlCol="0" anchor="ctr"/>
          <a:lstStyle/>
          <a:p>
            <a:pPr marL="0" indent="0" algn="ctr">
              <a:buNone/>
            </a:pPr>
            <a:r>
              <a:rPr lang="en-US" altLang="en-US" sz="1100" b="1" dirty="0">
                <a:solidFill>
                  <a:srgbClr val="FFFFFF"/>
                </a:solidFill>
                <a:latin typeface="Calibri" pitchFamily="34" charset="0"/>
                <a:ea typeface="Calibri" pitchFamily="34" charset="-122"/>
                <a:cs typeface="Calibri" pitchFamily="34" charset="-120"/>
              </a:rPr>
              <a:t>P3</a:t>
            </a:r>
            <a:endParaRPr lang="en-US" sz="1100" dirty="0"/>
          </a:p>
        </p:txBody>
      </p:sp>
      <p:sp>
        <p:nvSpPr>
          <p:cNvPr id="17" name="Text 15"/>
          <p:cNvSpPr/>
          <p:nvPr/>
        </p:nvSpPr>
        <p:spPr>
          <a:xfrm>
            <a:off x="868680" y="3840480"/>
            <a:ext cx="7818120" cy="868680"/>
          </a:xfrm>
          <a:prstGeom prst="rect">
            <a:avLst/>
          </a:prstGeom>
          <a:noFill/>
          <a:ln/>
        </p:spPr>
        <p:txBody>
          <a:bodyPr wrap="square" rtlCol="0" anchor="t"/>
          <a:lstStyle/>
          <a:p>
            <a:pPr marL="0" indent="0">
              <a:buNone/>
            </a:pPr>
            <a:r>
              <a:rPr lang="en-US" altLang="en-US" sz="1200" dirty="0">
                <a:solidFill>
                  <a:srgbClr val="CBD5E1"/>
                </a:solidFill>
                <a:latin typeface="Calibri" pitchFamily="34" charset="0"/>
                <a:ea typeface="Calibri" pitchFamily="34" charset="-122"/>
                <a:cs typeface="Calibri" pitchFamily="34" charset="-120"/>
              </a:rPr>
              <a:t>Implement secure user authentication using email and password. Use bcryptjs for password hashing and express-session with connect-mongo for session storage. Allow users to register and login with roles (admin or resident). Maintain sessions and restrict unauthorized access. Include logout functionality.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2563EB">
              <a:alpha val="12000"/>
            </a:srgbClr>
          </a:solidFill>
          <a:ln w="12700">
            <a:solidFill>
              <a:srgbClr val="2563EB">
                <a:alpha val="12000"/>
              </a:srgbClr>
            </a:solidFill>
            <a:prstDash val="solid"/>
          </a:ln>
        </p:spPr>
      </p:sp>
      <p:sp>
        <p:nvSpPr>
          <p:cNvPr id="3" name="Shape 1"/>
          <p:cNvSpPr/>
          <p:nvPr/>
        </p:nvSpPr>
        <p:spPr>
          <a:xfrm>
            <a:off x="0" y="0"/>
            <a:ext cx="9144000" cy="960120"/>
          </a:xfrm>
          <a:prstGeom prst="rect">
            <a:avLst/>
          </a:prstGeom>
          <a:solidFill>
            <a:srgbClr val="2563EB"/>
          </a:solidFill>
          <a:ln w="12700">
            <a:solidFill>
              <a:srgbClr val="2563EB"/>
            </a:solidFill>
            <a:prstDash val="solid"/>
          </a:ln>
        </p:spPr>
      </p:sp>
      <p:sp>
        <p:nvSpPr>
          <p:cNvPr id="4" name="Text 2"/>
          <p:cNvSpPr/>
          <p:nvPr/>
        </p:nvSpPr>
        <p:spPr>
          <a:xfrm>
            <a:off x="457200" y="0"/>
            <a:ext cx="8229600" cy="960120"/>
          </a:xfrm>
          <a:prstGeom prst="rect">
            <a:avLst/>
          </a:prstGeom>
          <a:noFill/>
          <a:ln/>
        </p:spPr>
        <p:txBody>
          <a:bodyPr wrap="square" lIns="0" tIns="0" rIns="0" bIns="0" rtlCol="0" anchor="ctr"/>
          <a:lstStyle/>
          <a:p>
            <a:pPr marL="0" indent="0">
              <a:buNone/>
            </a:pPr>
            <a:r>
              <a:rPr lang="en-US" altLang="en-US" sz="2000" b="1" dirty="0">
                <a:solidFill>
                  <a:srgbClr val="FFFFFF"/>
                </a:solidFill>
                <a:latin typeface="Calibri" pitchFamily="34" charset="0"/>
                <a:ea typeface="Calibri" pitchFamily="34" charset="-122"/>
                <a:cs typeface="Calibri" pitchFamily="34" charset="-120"/>
              </a:rPr>
              <a:t>06  Prompts Used — Part 2  (P4–P6)</a:t>
            </a:r>
            <a:endParaRPr lang="en-US" sz="2000" dirty="0"/>
          </a:p>
        </p:txBody>
      </p:sp>
      <p:sp>
        <p:nvSpPr>
          <p:cNvPr id="5" name="Text 3"/>
          <p:cNvSpPr/>
          <p:nvPr/>
        </p:nvSpPr>
        <p:spPr>
          <a:xfrm>
            <a:off x="457200" y="1005840"/>
            <a:ext cx="8229600" cy="274320"/>
          </a:xfrm>
          <a:prstGeom prst="rect">
            <a:avLst/>
          </a:prstGeom>
          <a:noFill/>
          <a:ln/>
        </p:spPr>
        <p:txBody>
          <a:bodyPr wrap="square" lIns="0" tIns="0" rIns="0" bIns="0" rtlCol="0" anchor="ctr"/>
          <a:lstStyle/>
          <a:p>
            <a:pPr marL="0" indent="0">
              <a:buNone/>
            </a:pPr>
            <a:r>
              <a:rPr lang="en-US" altLang="en-US" sz="1050" dirty="0">
                <a:solidFill>
                  <a:srgbClr val="94A3B8"/>
                </a:solidFill>
                <a:latin typeface="Calibri" pitchFamily="34" charset="0"/>
                <a:ea typeface="Calibri" pitchFamily="34" charset="-122"/>
                <a:cs typeface="Calibri" pitchFamily="34" charset="-120"/>
              </a:rPr>
              <a:t>💬 AI Prompts Used to Generate the Code</a:t>
            </a:r>
            <a:endParaRPr lang="en-US" sz="1050" dirty="0"/>
          </a:p>
        </p:txBody>
      </p:sp>
      <p:sp>
        <p:nvSpPr>
          <p:cNvPr id="6" name="Shape 4"/>
          <p:cNvSpPr/>
          <p:nvPr/>
        </p:nvSpPr>
        <p:spPr>
          <a:xfrm>
            <a:off x="320040" y="1371600"/>
            <a:ext cx="8503920" cy="1051560"/>
          </a:xfrm>
          <a:prstGeom prst="rect">
            <a:avLst/>
          </a:prstGeom>
          <a:solidFill>
            <a:srgbClr val="1E2A45"/>
          </a:solidFill>
          <a:ln w="12700">
            <a:solidFill>
              <a:srgbClr val="2563EB">
                <a:alpha val="40000"/>
              </a:srgbClr>
            </a:solidFill>
            <a:prstDash val="solid"/>
          </a:ln>
          <a:effectLst>
            <a:outerShdw blurRad="101600" dist="38100" dir="8100000" algn="bl" rotWithShape="0">
              <a:srgbClr val="000000">
                <a:alpha val="18000"/>
              </a:srgbClr>
            </a:outerShdw>
          </a:effectLst>
        </p:spPr>
      </p:sp>
      <p:sp>
        <p:nvSpPr>
          <p:cNvPr id="7" name="Shape 5"/>
          <p:cNvSpPr/>
          <p:nvPr/>
        </p:nvSpPr>
        <p:spPr>
          <a:xfrm>
            <a:off x="320040" y="1371600"/>
            <a:ext cx="457200" cy="1051560"/>
          </a:xfrm>
          <a:prstGeom prst="rect">
            <a:avLst/>
          </a:prstGeom>
          <a:solidFill>
            <a:srgbClr val="2563EB">
              <a:alpha val="75000"/>
            </a:srgbClr>
          </a:solidFill>
          <a:ln w="12700">
            <a:solidFill>
              <a:srgbClr val="2563EB">
                <a:alpha val="75000"/>
              </a:srgbClr>
            </a:solidFill>
            <a:prstDash val="solid"/>
          </a:ln>
        </p:spPr>
      </p:sp>
      <p:sp>
        <p:nvSpPr>
          <p:cNvPr id="8" name="Text 6"/>
          <p:cNvSpPr/>
          <p:nvPr/>
        </p:nvSpPr>
        <p:spPr>
          <a:xfrm>
            <a:off x="320040" y="1371600"/>
            <a:ext cx="457200" cy="1051560"/>
          </a:xfrm>
          <a:prstGeom prst="rect">
            <a:avLst/>
          </a:prstGeom>
          <a:noFill/>
          <a:ln/>
        </p:spPr>
        <p:txBody>
          <a:bodyPr wrap="square" rtlCol="0" anchor="ctr"/>
          <a:lstStyle/>
          <a:p>
            <a:pPr marL="0" indent="0" algn="ctr">
              <a:buNone/>
            </a:pPr>
            <a:r>
              <a:rPr lang="en-US" altLang="en-US" sz="1100" b="1" dirty="0">
                <a:solidFill>
                  <a:srgbClr val="FFFFFF"/>
                </a:solidFill>
                <a:latin typeface="Calibri" pitchFamily="34" charset="0"/>
                <a:ea typeface="Calibri" pitchFamily="34" charset="-122"/>
                <a:cs typeface="Calibri" pitchFamily="34" charset="-120"/>
              </a:rPr>
              <a:t>P4</a:t>
            </a:r>
            <a:endParaRPr lang="en-US" sz="1100" dirty="0"/>
          </a:p>
        </p:txBody>
      </p:sp>
      <p:sp>
        <p:nvSpPr>
          <p:cNvPr id="9" name="Text 7"/>
          <p:cNvSpPr/>
          <p:nvPr/>
        </p:nvSpPr>
        <p:spPr>
          <a:xfrm>
            <a:off x="868680" y="1463040"/>
            <a:ext cx="7818120" cy="868680"/>
          </a:xfrm>
          <a:prstGeom prst="rect">
            <a:avLst/>
          </a:prstGeom>
          <a:noFill/>
          <a:ln/>
        </p:spPr>
        <p:txBody>
          <a:bodyPr wrap="square" rtlCol="0" anchor="t"/>
          <a:lstStyle/>
          <a:p>
            <a:pPr marL="0" indent="0">
              <a:buNone/>
            </a:pPr>
            <a:r>
              <a:rPr lang="en-US" altLang="en-US" sz="1100" dirty="0">
                <a:solidFill>
                  <a:srgbClr val="CBD5E1"/>
                </a:solidFill>
                <a:latin typeface="Calibri" pitchFamily="34" charset="0"/>
                <a:ea typeface="Calibri" pitchFamily="34" charset="-122"/>
                <a:cs typeface="Calibri" pitchFamily="34" charset="-120"/>
              </a:rPr>
              <a:t>Create a role-based access system with Admin and Resident roles. Admin should have full control over residents, complaints, bills, and notices. Residents should only access personal dashboard, raise complaints, view notices, and pay bills. Protect routes using middleware.</a:t>
            </a:r>
            <a:endParaRPr lang="en-US" sz="1100" dirty="0"/>
          </a:p>
        </p:txBody>
      </p:sp>
      <p:sp>
        <p:nvSpPr>
          <p:cNvPr id="10" name="Shape 8"/>
          <p:cNvSpPr/>
          <p:nvPr/>
        </p:nvSpPr>
        <p:spPr>
          <a:xfrm>
            <a:off x="320040" y="2560320"/>
            <a:ext cx="8503920" cy="1051560"/>
          </a:xfrm>
          <a:prstGeom prst="rect">
            <a:avLst/>
          </a:prstGeom>
          <a:solidFill>
            <a:srgbClr val="1E2A45"/>
          </a:solidFill>
          <a:ln w="12700">
            <a:solidFill>
              <a:srgbClr val="2563EB">
                <a:alpha val="40000"/>
              </a:srgbClr>
            </a:solidFill>
            <a:prstDash val="solid"/>
          </a:ln>
          <a:effectLst>
            <a:outerShdw blurRad="101600" dist="38100" dir="8100000" algn="bl" rotWithShape="0">
              <a:srgbClr val="000000">
                <a:alpha val="18000"/>
              </a:srgbClr>
            </a:outerShdw>
          </a:effectLst>
        </p:spPr>
      </p:sp>
      <p:sp>
        <p:nvSpPr>
          <p:cNvPr id="11" name="Shape 9"/>
          <p:cNvSpPr/>
          <p:nvPr/>
        </p:nvSpPr>
        <p:spPr>
          <a:xfrm>
            <a:off x="320040" y="2560320"/>
            <a:ext cx="457200" cy="1051560"/>
          </a:xfrm>
          <a:prstGeom prst="rect">
            <a:avLst/>
          </a:prstGeom>
          <a:solidFill>
            <a:srgbClr val="2563EB">
              <a:alpha val="75000"/>
            </a:srgbClr>
          </a:solidFill>
          <a:ln w="12700">
            <a:solidFill>
              <a:srgbClr val="2563EB">
                <a:alpha val="75000"/>
              </a:srgbClr>
            </a:solidFill>
            <a:prstDash val="solid"/>
          </a:ln>
        </p:spPr>
      </p:sp>
      <p:sp>
        <p:nvSpPr>
          <p:cNvPr id="12" name="Text 10"/>
          <p:cNvSpPr/>
          <p:nvPr/>
        </p:nvSpPr>
        <p:spPr>
          <a:xfrm>
            <a:off x="320040" y="2560320"/>
            <a:ext cx="457200" cy="1051560"/>
          </a:xfrm>
          <a:prstGeom prst="rect">
            <a:avLst/>
          </a:prstGeom>
          <a:noFill/>
          <a:ln/>
        </p:spPr>
        <p:txBody>
          <a:bodyPr wrap="square" rtlCol="0" anchor="ctr"/>
          <a:lstStyle/>
          <a:p>
            <a:pPr marL="0" indent="0" algn="ctr">
              <a:buNone/>
            </a:pPr>
            <a:r>
              <a:rPr lang="en-US" altLang="en-US" sz="1100" b="1" dirty="0">
                <a:solidFill>
                  <a:srgbClr val="FFFFFF"/>
                </a:solidFill>
                <a:latin typeface="Calibri" pitchFamily="34" charset="0"/>
                <a:ea typeface="Calibri" pitchFamily="34" charset="-122"/>
                <a:cs typeface="Calibri" pitchFamily="34" charset="-120"/>
              </a:rPr>
              <a:t>P5</a:t>
            </a:r>
            <a:endParaRPr lang="en-US" sz="1100" dirty="0"/>
          </a:p>
        </p:txBody>
      </p:sp>
      <p:sp>
        <p:nvSpPr>
          <p:cNvPr id="13" name="Text 11"/>
          <p:cNvSpPr/>
          <p:nvPr/>
        </p:nvSpPr>
        <p:spPr>
          <a:xfrm>
            <a:off x="868680" y="2651760"/>
            <a:ext cx="7818120" cy="868680"/>
          </a:xfrm>
          <a:prstGeom prst="rect">
            <a:avLst/>
          </a:prstGeom>
          <a:noFill/>
          <a:ln/>
        </p:spPr>
        <p:txBody>
          <a:bodyPr wrap="square" rtlCol="0" anchor="t"/>
          <a:lstStyle/>
          <a:p>
            <a:pPr marL="0" indent="0">
              <a:buNone/>
            </a:pPr>
            <a:r>
              <a:rPr lang="en-US" altLang="en-US" sz="1200" dirty="0">
                <a:solidFill>
                  <a:srgbClr val="CBD5E1"/>
                </a:solidFill>
                <a:latin typeface="Calibri" pitchFamily="34" charset="0"/>
                <a:ea typeface="Calibri" pitchFamily="34" charset="-122"/>
                <a:cs typeface="Calibri" pitchFamily="34" charset="-120"/>
              </a:rPr>
              <a:t>Implement a payment system that stores payment details including user ID, amount, and timestamp. Allow residents to pay bills and view payment history. Update bill status after payment.</a:t>
            </a:r>
            <a:endParaRPr lang="en-US" sz="1200" dirty="0"/>
          </a:p>
        </p:txBody>
      </p:sp>
      <p:sp>
        <p:nvSpPr>
          <p:cNvPr id="14" name="Shape 12"/>
          <p:cNvSpPr/>
          <p:nvPr/>
        </p:nvSpPr>
        <p:spPr>
          <a:xfrm>
            <a:off x="320040" y="3749040"/>
            <a:ext cx="8503920" cy="1051560"/>
          </a:xfrm>
          <a:prstGeom prst="rect">
            <a:avLst/>
          </a:prstGeom>
          <a:solidFill>
            <a:srgbClr val="1E2A45"/>
          </a:solidFill>
          <a:ln w="12700">
            <a:solidFill>
              <a:srgbClr val="2563EB">
                <a:alpha val="40000"/>
              </a:srgbClr>
            </a:solidFill>
            <a:prstDash val="solid"/>
          </a:ln>
          <a:effectLst>
            <a:outerShdw blurRad="101600" dist="38100" dir="8100000" algn="bl" rotWithShape="0">
              <a:srgbClr val="000000">
                <a:alpha val="18000"/>
              </a:srgbClr>
            </a:outerShdw>
          </a:effectLst>
        </p:spPr>
      </p:sp>
      <p:sp>
        <p:nvSpPr>
          <p:cNvPr id="15" name="Shape 13"/>
          <p:cNvSpPr/>
          <p:nvPr/>
        </p:nvSpPr>
        <p:spPr>
          <a:xfrm>
            <a:off x="320040" y="3749040"/>
            <a:ext cx="457200" cy="1051560"/>
          </a:xfrm>
          <a:prstGeom prst="rect">
            <a:avLst/>
          </a:prstGeom>
          <a:solidFill>
            <a:srgbClr val="2563EB">
              <a:alpha val="75000"/>
            </a:srgbClr>
          </a:solidFill>
          <a:ln w="12700">
            <a:solidFill>
              <a:srgbClr val="2563EB">
                <a:alpha val="75000"/>
              </a:srgbClr>
            </a:solidFill>
            <a:prstDash val="solid"/>
          </a:ln>
        </p:spPr>
      </p:sp>
      <p:sp>
        <p:nvSpPr>
          <p:cNvPr id="16" name="Text 14"/>
          <p:cNvSpPr/>
          <p:nvPr/>
        </p:nvSpPr>
        <p:spPr>
          <a:xfrm>
            <a:off x="320040" y="3749040"/>
            <a:ext cx="457200" cy="1051560"/>
          </a:xfrm>
          <a:prstGeom prst="rect">
            <a:avLst/>
          </a:prstGeom>
          <a:noFill/>
          <a:ln/>
        </p:spPr>
        <p:txBody>
          <a:bodyPr wrap="square" rtlCol="0" anchor="ctr"/>
          <a:lstStyle/>
          <a:p>
            <a:pPr marL="0" indent="0" algn="ctr">
              <a:buNone/>
            </a:pPr>
            <a:r>
              <a:rPr lang="en-US" altLang="en-US" sz="1100" b="1" dirty="0">
                <a:solidFill>
                  <a:srgbClr val="FFFFFF"/>
                </a:solidFill>
                <a:latin typeface="Calibri" pitchFamily="34" charset="0"/>
                <a:ea typeface="Calibri" pitchFamily="34" charset="-122"/>
                <a:cs typeface="Calibri" pitchFamily="34" charset="-120"/>
              </a:rPr>
              <a:t>P6</a:t>
            </a:r>
            <a:endParaRPr lang="en-US" sz="1100" dirty="0"/>
          </a:p>
        </p:txBody>
      </p:sp>
      <p:sp>
        <p:nvSpPr>
          <p:cNvPr id="17" name="Text 15"/>
          <p:cNvSpPr/>
          <p:nvPr/>
        </p:nvSpPr>
        <p:spPr>
          <a:xfrm>
            <a:off x="868680" y="3840480"/>
            <a:ext cx="7818120" cy="868680"/>
          </a:xfrm>
          <a:prstGeom prst="rect">
            <a:avLst/>
          </a:prstGeom>
          <a:noFill/>
          <a:ln/>
        </p:spPr>
        <p:txBody>
          <a:bodyPr wrap="square" rtlCol="0" anchor="t"/>
          <a:lstStyle/>
          <a:p>
            <a:pPr marL="0" indent="0">
              <a:buNone/>
            </a:pPr>
            <a:r>
              <a:rPr lang="en-US" altLang="en-US" sz="1200" dirty="0">
                <a:solidFill>
                  <a:srgbClr val="CBD5E1"/>
                </a:solidFill>
                <a:latin typeface="Calibri" pitchFamily="34" charset="0"/>
                <a:ea typeface="Calibri" pitchFamily="34" charset="-122"/>
                <a:cs typeface="Calibri" pitchFamily="34" charset="-120"/>
              </a:rPr>
              <a:t>Create a notice board where admin can add notices and residents can view them. Each notice should include text and timestamp. Display notices in a clean list format.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2ECC71">
              <a:alpha val="12000"/>
            </a:srgbClr>
          </a:solidFill>
          <a:ln w="12700">
            <a:solidFill>
              <a:srgbClr val="2ECC71">
                <a:alpha val="12000"/>
              </a:srgbClr>
            </a:solidFill>
            <a:prstDash val="solid"/>
          </a:ln>
        </p:spPr>
      </p:sp>
      <p:sp>
        <p:nvSpPr>
          <p:cNvPr id="3" name="Shape 1"/>
          <p:cNvSpPr/>
          <p:nvPr/>
        </p:nvSpPr>
        <p:spPr>
          <a:xfrm>
            <a:off x="0" y="0"/>
            <a:ext cx="9144000" cy="960120"/>
          </a:xfrm>
          <a:prstGeom prst="rect">
            <a:avLst/>
          </a:prstGeom>
          <a:solidFill>
            <a:srgbClr val="2ECC71"/>
          </a:solidFill>
          <a:ln w="12700">
            <a:solidFill>
              <a:srgbClr val="2ECC71"/>
            </a:solidFill>
            <a:prstDash val="solid"/>
          </a:ln>
        </p:spPr>
      </p:sp>
      <p:sp>
        <p:nvSpPr>
          <p:cNvPr id="4" name="Text 2"/>
          <p:cNvSpPr/>
          <p:nvPr/>
        </p:nvSpPr>
        <p:spPr>
          <a:xfrm>
            <a:off x="457200" y="0"/>
            <a:ext cx="8229600" cy="960120"/>
          </a:xfrm>
          <a:prstGeom prst="rect">
            <a:avLst/>
          </a:prstGeom>
          <a:noFill/>
          <a:ln/>
        </p:spPr>
        <p:txBody>
          <a:bodyPr wrap="square" lIns="0" tIns="0" rIns="0" bIns="0" rtlCol="0" anchor="ctr"/>
          <a:lstStyle/>
          <a:p>
            <a:pPr marL="0" indent="0">
              <a:buNone/>
            </a:pPr>
            <a:r>
              <a:rPr lang="en-US" altLang="en-US" sz="2000" b="1" dirty="0">
                <a:solidFill>
                  <a:srgbClr val="FFFFFF"/>
                </a:solidFill>
                <a:latin typeface="Calibri" pitchFamily="34" charset="0"/>
                <a:ea typeface="Calibri" pitchFamily="34" charset="-122"/>
                <a:cs typeface="Calibri" pitchFamily="34" charset="-120"/>
              </a:rPr>
              <a:t>06  Prompts Used — Part 3  (P7–P9)</a:t>
            </a:r>
            <a:endParaRPr lang="en-US" sz="2000" dirty="0"/>
          </a:p>
        </p:txBody>
      </p:sp>
      <p:sp>
        <p:nvSpPr>
          <p:cNvPr id="5" name="Text 3"/>
          <p:cNvSpPr/>
          <p:nvPr/>
        </p:nvSpPr>
        <p:spPr>
          <a:xfrm>
            <a:off x="457200" y="1005840"/>
            <a:ext cx="8229600" cy="274320"/>
          </a:xfrm>
          <a:prstGeom prst="rect">
            <a:avLst/>
          </a:prstGeom>
          <a:noFill/>
          <a:ln/>
        </p:spPr>
        <p:txBody>
          <a:bodyPr wrap="square" lIns="0" tIns="0" rIns="0" bIns="0" rtlCol="0" anchor="ctr"/>
          <a:lstStyle/>
          <a:p>
            <a:pPr marL="0" indent="0">
              <a:buNone/>
            </a:pPr>
            <a:r>
              <a:rPr lang="en-US" altLang="en-US" sz="1050" dirty="0">
                <a:solidFill>
                  <a:srgbClr val="94A3B8"/>
                </a:solidFill>
                <a:latin typeface="Calibri" pitchFamily="34" charset="0"/>
                <a:ea typeface="Calibri" pitchFamily="34" charset="-122"/>
                <a:cs typeface="Calibri" pitchFamily="34" charset="-120"/>
              </a:rPr>
              <a:t>💬 AI Prompts Used to Generate the Code</a:t>
            </a:r>
            <a:endParaRPr lang="en-US" sz="1050" dirty="0"/>
          </a:p>
        </p:txBody>
      </p:sp>
      <p:sp>
        <p:nvSpPr>
          <p:cNvPr id="6" name="Shape 4"/>
          <p:cNvSpPr/>
          <p:nvPr/>
        </p:nvSpPr>
        <p:spPr>
          <a:xfrm>
            <a:off x="320040" y="1371600"/>
            <a:ext cx="8503920" cy="1051560"/>
          </a:xfrm>
          <a:prstGeom prst="rect">
            <a:avLst/>
          </a:prstGeom>
          <a:solidFill>
            <a:srgbClr val="1E2A45"/>
          </a:solidFill>
          <a:ln w="12700">
            <a:solidFill>
              <a:srgbClr val="2ECC71">
                <a:alpha val="40000"/>
              </a:srgbClr>
            </a:solidFill>
            <a:prstDash val="solid"/>
          </a:ln>
          <a:effectLst>
            <a:outerShdw blurRad="101600" dist="38100" dir="8100000" algn="bl" rotWithShape="0">
              <a:srgbClr val="000000">
                <a:alpha val="18000"/>
              </a:srgbClr>
            </a:outerShdw>
          </a:effectLst>
        </p:spPr>
      </p:sp>
      <p:sp>
        <p:nvSpPr>
          <p:cNvPr id="7" name="Shape 5"/>
          <p:cNvSpPr/>
          <p:nvPr/>
        </p:nvSpPr>
        <p:spPr>
          <a:xfrm>
            <a:off x="320040" y="1371600"/>
            <a:ext cx="457200" cy="1051560"/>
          </a:xfrm>
          <a:prstGeom prst="rect">
            <a:avLst/>
          </a:prstGeom>
          <a:solidFill>
            <a:srgbClr val="2ECC71">
              <a:alpha val="75000"/>
            </a:srgbClr>
          </a:solidFill>
          <a:ln w="12700">
            <a:solidFill>
              <a:srgbClr val="2ECC71">
                <a:alpha val="75000"/>
              </a:srgbClr>
            </a:solidFill>
            <a:prstDash val="solid"/>
          </a:ln>
        </p:spPr>
      </p:sp>
      <p:sp>
        <p:nvSpPr>
          <p:cNvPr id="8" name="Text 6"/>
          <p:cNvSpPr/>
          <p:nvPr/>
        </p:nvSpPr>
        <p:spPr>
          <a:xfrm>
            <a:off x="320040" y="1371600"/>
            <a:ext cx="457200" cy="1051560"/>
          </a:xfrm>
          <a:prstGeom prst="rect">
            <a:avLst/>
          </a:prstGeom>
          <a:noFill/>
          <a:ln/>
        </p:spPr>
        <p:txBody>
          <a:bodyPr wrap="square" rtlCol="0" anchor="ctr"/>
          <a:lstStyle/>
          <a:p>
            <a:pPr marL="0" indent="0" algn="ctr">
              <a:buNone/>
            </a:pPr>
            <a:r>
              <a:rPr lang="en-US" altLang="en-US" sz="1100" b="1" dirty="0">
                <a:solidFill>
                  <a:srgbClr val="FFFFFF"/>
                </a:solidFill>
                <a:latin typeface="Calibri" pitchFamily="34" charset="0"/>
                <a:ea typeface="Calibri" pitchFamily="34" charset="-122"/>
                <a:cs typeface="Calibri" pitchFamily="34" charset="-120"/>
              </a:rPr>
              <a:t>P7</a:t>
            </a:r>
            <a:endParaRPr lang="en-US" sz="1100" dirty="0"/>
          </a:p>
        </p:txBody>
      </p:sp>
      <p:sp>
        <p:nvSpPr>
          <p:cNvPr id="9" name="Text 7"/>
          <p:cNvSpPr/>
          <p:nvPr/>
        </p:nvSpPr>
        <p:spPr>
          <a:xfrm>
            <a:off x="868680" y="1463040"/>
            <a:ext cx="7818120" cy="868680"/>
          </a:xfrm>
          <a:prstGeom prst="rect">
            <a:avLst/>
          </a:prstGeom>
          <a:noFill/>
          <a:ln/>
        </p:spPr>
        <p:txBody>
          <a:bodyPr wrap="square" rtlCol="0" anchor="t"/>
          <a:lstStyle/>
          <a:p>
            <a:pPr marL="0" indent="0">
              <a:buNone/>
            </a:pPr>
            <a:r>
              <a:rPr lang="en-US" altLang="en-US" sz="1200" dirty="0">
                <a:solidFill>
                  <a:srgbClr val="CBD5E1"/>
                </a:solidFill>
                <a:latin typeface="Calibri" pitchFamily="34" charset="0"/>
                <a:ea typeface="Calibri" pitchFamily="34" charset="-122"/>
                <a:cs typeface="Calibri" pitchFamily="34" charset="-120"/>
              </a:rPr>
              <a:t>Add search and filter functionality for bills, complaints, and residents. Allow searching by flat number and filtering by status or priority.</a:t>
            </a:r>
            <a:endParaRPr lang="en-US" sz="1200" dirty="0"/>
          </a:p>
        </p:txBody>
      </p:sp>
      <p:sp>
        <p:nvSpPr>
          <p:cNvPr id="10" name="Shape 8"/>
          <p:cNvSpPr/>
          <p:nvPr/>
        </p:nvSpPr>
        <p:spPr>
          <a:xfrm>
            <a:off x="320040" y="2560320"/>
            <a:ext cx="8503920" cy="1051560"/>
          </a:xfrm>
          <a:prstGeom prst="rect">
            <a:avLst/>
          </a:prstGeom>
          <a:solidFill>
            <a:srgbClr val="1E2A45"/>
          </a:solidFill>
          <a:ln w="12700">
            <a:solidFill>
              <a:srgbClr val="2ECC71">
                <a:alpha val="40000"/>
              </a:srgbClr>
            </a:solidFill>
            <a:prstDash val="solid"/>
          </a:ln>
          <a:effectLst>
            <a:outerShdw blurRad="101600" dist="38100" dir="8100000" algn="bl" rotWithShape="0">
              <a:srgbClr val="000000">
                <a:alpha val="18000"/>
              </a:srgbClr>
            </a:outerShdw>
          </a:effectLst>
        </p:spPr>
      </p:sp>
      <p:sp>
        <p:nvSpPr>
          <p:cNvPr id="11" name="Shape 9"/>
          <p:cNvSpPr/>
          <p:nvPr/>
        </p:nvSpPr>
        <p:spPr>
          <a:xfrm>
            <a:off x="320040" y="2560320"/>
            <a:ext cx="457200" cy="1051560"/>
          </a:xfrm>
          <a:prstGeom prst="rect">
            <a:avLst/>
          </a:prstGeom>
          <a:solidFill>
            <a:srgbClr val="2ECC71">
              <a:alpha val="75000"/>
            </a:srgbClr>
          </a:solidFill>
          <a:ln w="12700">
            <a:solidFill>
              <a:srgbClr val="2ECC71">
                <a:alpha val="75000"/>
              </a:srgbClr>
            </a:solidFill>
            <a:prstDash val="solid"/>
          </a:ln>
        </p:spPr>
      </p:sp>
      <p:sp>
        <p:nvSpPr>
          <p:cNvPr id="12" name="Text 10"/>
          <p:cNvSpPr/>
          <p:nvPr/>
        </p:nvSpPr>
        <p:spPr>
          <a:xfrm>
            <a:off x="320040" y="2560320"/>
            <a:ext cx="457200" cy="1051560"/>
          </a:xfrm>
          <a:prstGeom prst="rect">
            <a:avLst/>
          </a:prstGeom>
          <a:noFill/>
          <a:ln/>
        </p:spPr>
        <p:txBody>
          <a:bodyPr wrap="square" rtlCol="0" anchor="ctr"/>
          <a:lstStyle/>
          <a:p>
            <a:pPr marL="0" indent="0" algn="ctr">
              <a:buNone/>
            </a:pPr>
            <a:r>
              <a:rPr lang="en-US" altLang="en-US" sz="1100" b="1" dirty="0">
                <a:solidFill>
                  <a:srgbClr val="FFFFFF"/>
                </a:solidFill>
                <a:latin typeface="Calibri" pitchFamily="34" charset="0"/>
                <a:ea typeface="Calibri" pitchFamily="34" charset="-122"/>
                <a:cs typeface="Calibri" pitchFamily="34" charset="-120"/>
              </a:rPr>
              <a:t>P8</a:t>
            </a:r>
            <a:endParaRPr lang="en-US" sz="1100" dirty="0"/>
          </a:p>
        </p:txBody>
      </p:sp>
      <p:sp>
        <p:nvSpPr>
          <p:cNvPr id="13" name="Text 11"/>
          <p:cNvSpPr/>
          <p:nvPr/>
        </p:nvSpPr>
        <p:spPr>
          <a:xfrm>
            <a:off x="868680" y="2651760"/>
            <a:ext cx="7818120" cy="868680"/>
          </a:xfrm>
          <a:prstGeom prst="rect">
            <a:avLst/>
          </a:prstGeom>
          <a:noFill/>
          <a:ln/>
        </p:spPr>
        <p:txBody>
          <a:bodyPr wrap="square" rtlCol="0" anchor="t"/>
          <a:lstStyle/>
          <a:p>
            <a:pPr marL="0" indent="0">
              <a:buNone/>
            </a:pPr>
            <a:r>
              <a:rPr lang="en-US" altLang="en-US" sz="1200" dirty="0">
                <a:solidFill>
                  <a:srgbClr val="CBD5E1"/>
                </a:solidFill>
                <a:latin typeface="Calibri" pitchFamily="34" charset="0"/>
                <a:ea typeface="Calibri" pitchFamily="34" charset="-122"/>
                <a:cs typeface="Calibri" pitchFamily="34" charset="-120"/>
              </a:rPr>
              <a:t>Create an analytics dashboard using Chart.js to display revenue, complaint status, and bill payment statistics. Include bar charts and pie charts.</a:t>
            </a:r>
            <a:endParaRPr lang="en-US" sz="1200" dirty="0"/>
          </a:p>
        </p:txBody>
      </p:sp>
      <p:sp>
        <p:nvSpPr>
          <p:cNvPr id="14" name="Shape 12"/>
          <p:cNvSpPr/>
          <p:nvPr/>
        </p:nvSpPr>
        <p:spPr>
          <a:xfrm>
            <a:off x="320040" y="3749040"/>
            <a:ext cx="8503920" cy="1051560"/>
          </a:xfrm>
          <a:prstGeom prst="rect">
            <a:avLst/>
          </a:prstGeom>
          <a:solidFill>
            <a:srgbClr val="1E2A45"/>
          </a:solidFill>
          <a:ln w="12700">
            <a:solidFill>
              <a:srgbClr val="2ECC71">
                <a:alpha val="40000"/>
              </a:srgbClr>
            </a:solidFill>
            <a:prstDash val="solid"/>
          </a:ln>
          <a:effectLst>
            <a:outerShdw blurRad="101600" dist="38100" dir="8100000" algn="bl" rotWithShape="0">
              <a:srgbClr val="000000">
                <a:alpha val="18000"/>
              </a:srgbClr>
            </a:outerShdw>
          </a:effectLst>
        </p:spPr>
      </p:sp>
      <p:sp>
        <p:nvSpPr>
          <p:cNvPr id="15" name="Shape 13"/>
          <p:cNvSpPr/>
          <p:nvPr/>
        </p:nvSpPr>
        <p:spPr>
          <a:xfrm>
            <a:off x="320040" y="3749040"/>
            <a:ext cx="457200" cy="1051560"/>
          </a:xfrm>
          <a:prstGeom prst="rect">
            <a:avLst/>
          </a:prstGeom>
          <a:solidFill>
            <a:srgbClr val="2ECC71">
              <a:alpha val="75000"/>
            </a:srgbClr>
          </a:solidFill>
          <a:ln w="12700">
            <a:solidFill>
              <a:srgbClr val="2ECC71">
                <a:alpha val="75000"/>
              </a:srgbClr>
            </a:solidFill>
            <a:prstDash val="solid"/>
          </a:ln>
        </p:spPr>
      </p:sp>
      <p:sp>
        <p:nvSpPr>
          <p:cNvPr id="16" name="Text 14"/>
          <p:cNvSpPr/>
          <p:nvPr/>
        </p:nvSpPr>
        <p:spPr>
          <a:xfrm>
            <a:off x="320040" y="3749040"/>
            <a:ext cx="457200" cy="1051560"/>
          </a:xfrm>
          <a:prstGeom prst="rect">
            <a:avLst/>
          </a:prstGeom>
          <a:noFill/>
          <a:ln/>
        </p:spPr>
        <p:txBody>
          <a:bodyPr wrap="square" rtlCol="0" anchor="ctr"/>
          <a:lstStyle/>
          <a:p>
            <a:pPr marL="0" indent="0" algn="ctr">
              <a:buNone/>
            </a:pPr>
            <a:r>
              <a:rPr lang="en-US" altLang="en-US" sz="1100" b="1" dirty="0">
                <a:solidFill>
                  <a:srgbClr val="FFFFFF"/>
                </a:solidFill>
                <a:latin typeface="Calibri" pitchFamily="34" charset="0"/>
                <a:ea typeface="Calibri" pitchFamily="34" charset="-122"/>
                <a:cs typeface="Calibri" pitchFamily="34" charset="-120"/>
              </a:rPr>
              <a:t>P9</a:t>
            </a:r>
            <a:endParaRPr lang="en-US" sz="1100" dirty="0"/>
          </a:p>
        </p:txBody>
      </p:sp>
      <p:sp>
        <p:nvSpPr>
          <p:cNvPr id="17" name="Text 15"/>
          <p:cNvSpPr/>
          <p:nvPr/>
        </p:nvSpPr>
        <p:spPr>
          <a:xfrm>
            <a:off x="868680" y="3840480"/>
            <a:ext cx="7818120" cy="868680"/>
          </a:xfrm>
          <a:prstGeom prst="rect">
            <a:avLst/>
          </a:prstGeom>
          <a:noFill/>
          <a:ln/>
        </p:spPr>
        <p:txBody>
          <a:bodyPr wrap="square" rtlCol="0" anchor="t"/>
          <a:lstStyle/>
          <a:p>
            <a:pPr marL="0" indent="0">
              <a:buNone/>
            </a:pPr>
            <a:r>
              <a:rPr lang="en-US" altLang="en-US" sz="1200" dirty="0">
                <a:solidFill>
                  <a:srgbClr val="CBD5E1"/>
                </a:solidFill>
                <a:latin typeface="Calibri" pitchFamily="34" charset="0"/>
                <a:ea typeface="Calibri" pitchFamily="34" charset="-122"/>
                <a:cs typeface="Calibri" pitchFamily="34" charset="-120"/>
              </a:rPr>
              <a:t>Implement a notification system to alert residents when: a complaint is resolved, a new bill is generated, or a payment is successful. Store notifications with timestamps and show them in a Notifications page.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1" name="Shape 1">
            <a:extLst>
              <a:ext uri="{FF2B5EF4-FFF2-40B4-BE49-F238E27FC236}">
                <a16:creationId xmlns:a16="http://schemas.microsoft.com/office/drawing/2014/main" id="{D76289DD-795C-4422-9267-369A1AFF58FA}"/>
              </a:ext>
            </a:extLst>
          </p:cNvPr>
          <p:cNvSpPr/>
          <p:nvPr/>
        </p:nvSpPr>
        <p:spPr>
          <a:xfrm>
            <a:off x="0" y="-76200"/>
            <a:ext cx="9144000" cy="960120"/>
          </a:xfrm>
          <a:prstGeom prst="rect">
            <a:avLst/>
          </a:prstGeom>
          <a:solidFill>
            <a:srgbClr val="2563EB"/>
          </a:solidFill>
          <a:ln w="12700">
            <a:solidFill>
              <a:srgbClr val="2563EB"/>
            </a:solidFill>
            <a:prstDash val="solid"/>
          </a:ln>
        </p:spPr>
        <p:txBody>
          <a:bodyPr/>
          <a:lstStyle/>
          <a:p>
            <a:pPr marL="0" indent="0">
              <a:buNone/>
            </a:pPr>
            <a:endParaRPr lang="en-US" altLang="en-US" sz="1800" b="1" dirty="0">
              <a:solidFill>
                <a:srgbClr val="FFFFFF"/>
              </a:solidFill>
              <a:latin typeface="Calibri" pitchFamily="34" charset="0"/>
              <a:ea typeface="Calibri" pitchFamily="34" charset="-122"/>
              <a:cs typeface="Calibri" pitchFamily="34" charset="-120"/>
            </a:endParaRPr>
          </a:p>
          <a:p>
            <a:pPr marL="0" indent="0">
              <a:buNone/>
            </a:pPr>
            <a:r>
              <a:rPr lang="en-US" altLang="en-US" b="1" dirty="0">
                <a:solidFill>
                  <a:srgbClr val="FFFFFF"/>
                </a:solidFill>
                <a:latin typeface="Calibri" pitchFamily="34" charset="0"/>
                <a:ea typeface="Calibri" pitchFamily="34" charset="-122"/>
                <a:cs typeface="Calibri" pitchFamily="34" charset="-120"/>
              </a:rPr>
              <a:t>       </a:t>
            </a:r>
            <a:r>
              <a:rPr lang="en-US" altLang="en-US" sz="1800" b="1" dirty="0">
                <a:solidFill>
                  <a:srgbClr val="FFFFFF"/>
                </a:solidFill>
                <a:latin typeface="Calibri" pitchFamily="34" charset="0"/>
                <a:ea typeface="Calibri" pitchFamily="34" charset="-122"/>
                <a:cs typeface="Calibri" pitchFamily="34" charset="-120"/>
              </a:rPr>
              <a:t>07  Workflow Flowchart</a:t>
            </a:r>
            <a:endParaRPr lang="en-US" sz="1800" dirty="0"/>
          </a:p>
        </p:txBody>
      </p:sp>
      <p:pic>
        <p:nvPicPr>
          <p:cNvPr id="23" name="Picture 22">
            <a:extLst>
              <a:ext uri="{FF2B5EF4-FFF2-40B4-BE49-F238E27FC236}">
                <a16:creationId xmlns:a16="http://schemas.microsoft.com/office/drawing/2014/main" id="{D9824105-DFC7-4DA3-AF69-601F185A4DE1}"/>
              </a:ext>
            </a:extLst>
          </p:cNvPr>
          <p:cNvPicPr>
            <a:picLocks noChangeAspect="1"/>
          </p:cNvPicPr>
          <p:nvPr/>
        </p:nvPicPr>
        <p:blipFill>
          <a:blip r:embed="rId3"/>
          <a:stretch>
            <a:fillRect/>
          </a:stretch>
        </p:blipFill>
        <p:spPr>
          <a:xfrm>
            <a:off x="1927860" y="960120"/>
            <a:ext cx="5013960" cy="4200439"/>
          </a:xfrm>
          <a:prstGeom prst="rect">
            <a:avLst/>
          </a:prstGeom>
        </p:spPr>
      </p:pic>
    </p:spTree>
    <p:extLst>
      <p:ext uri="{BB962C8B-B14F-4D97-AF65-F5344CB8AC3E}">
        <p14:creationId xmlns:p14="http://schemas.microsoft.com/office/powerpoint/2010/main" val="3711999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6C63FF"/>
          </a:solidFill>
          <a:ln w="12700">
            <a:solidFill>
              <a:srgbClr val="6C63FF"/>
            </a:solidFill>
            <a:prstDash val="solid"/>
          </a:ln>
        </p:spPr>
      </p:sp>
      <p:sp>
        <p:nvSpPr>
          <p:cNvPr id="3" name="Text 1"/>
          <p:cNvSpPr/>
          <p:nvPr/>
        </p:nvSpPr>
        <p:spPr>
          <a:xfrm>
            <a:off x="457200" y="0"/>
            <a:ext cx="8412480" cy="914400"/>
          </a:xfrm>
          <a:prstGeom prst="rect">
            <a:avLst/>
          </a:prstGeom>
          <a:noFill/>
          <a:ln/>
        </p:spPr>
        <p:txBody>
          <a:bodyPr wrap="square" lIns="0" tIns="0" rIns="0" bIns="0" rtlCol="0" anchor="ctr"/>
          <a:lstStyle/>
          <a:p>
            <a:pPr marL="0" indent="0">
              <a:buNone/>
            </a:pPr>
            <a:r>
              <a:rPr lang="en-US" altLang="en-US" sz="1900" b="1" dirty="0">
                <a:solidFill>
                  <a:srgbClr val="FFFFFF"/>
                </a:solidFill>
                <a:latin typeface="Calibri" pitchFamily="34" charset="0"/>
                <a:ea typeface="Calibri" pitchFamily="34" charset="-122"/>
                <a:cs typeface="Calibri" pitchFamily="34" charset="-120"/>
              </a:rPr>
              <a:t>08  Frontend Views — Application Screenshots</a:t>
            </a:r>
            <a:endParaRPr lang="en-US" sz="1900" dirty="0"/>
          </a:p>
        </p:txBody>
      </p:sp>
      <p:sp>
        <p:nvSpPr>
          <p:cNvPr id="4" name="Shape 2"/>
          <p:cNvSpPr/>
          <p:nvPr/>
        </p:nvSpPr>
        <p:spPr>
          <a:xfrm>
            <a:off x="274320" y="1005840"/>
            <a:ext cx="4160520" cy="2971800"/>
          </a:xfrm>
          <a:prstGeom prst="rect">
            <a:avLst/>
          </a:prstGeom>
          <a:solidFill>
            <a:srgbClr val="1E2A45"/>
          </a:solidFill>
          <a:ln w="12700">
            <a:solidFill>
              <a:srgbClr val="6C63FF">
                <a:alpha val="60000"/>
              </a:srgbClr>
            </a:solidFill>
            <a:prstDash val="solid"/>
          </a:ln>
          <a:effectLst>
            <a:outerShdw blurRad="101600" dist="38100" dir="8100000" algn="bl" rotWithShape="0">
              <a:srgbClr val="000000">
                <a:alpha val="18000"/>
              </a:srgbClr>
            </a:outerShdw>
          </a:effectLst>
        </p:spPr>
      </p:sp>
      <p:sp>
        <p:nvSpPr>
          <p:cNvPr id="6" name="Shape 3"/>
          <p:cNvSpPr/>
          <p:nvPr/>
        </p:nvSpPr>
        <p:spPr>
          <a:xfrm>
            <a:off x="274320" y="3502152"/>
            <a:ext cx="4160520" cy="475488"/>
          </a:xfrm>
          <a:prstGeom prst="rect">
            <a:avLst/>
          </a:prstGeom>
          <a:solidFill>
            <a:srgbClr val="6C63FF">
              <a:alpha val="85000"/>
            </a:srgbClr>
          </a:solidFill>
          <a:ln w="12700">
            <a:solidFill>
              <a:srgbClr val="6C63FF">
                <a:alpha val="85000"/>
              </a:srgbClr>
            </a:solidFill>
            <a:prstDash val="solid"/>
          </a:ln>
        </p:spPr>
      </p:sp>
      <p:sp>
        <p:nvSpPr>
          <p:cNvPr id="7" name="Text 4"/>
          <p:cNvSpPr/>
          <p:nvPr/>
        </p:nvSpPr>
        <p:spPr>
          <a:xfrm>
            <a:off x="347472" y="3502152"/>
            <a:ext cx="4005072" cy="475488"/>
          </a:xfrm>
          <a:prstGeom prst="rect">
            <a:avLst/>
          </a:prstGeom>
          <a:noFill/>
          <a:ln/>
        </p:spPr>
        <p:txBody>
          <a:bodyPr wrap="square" lIns="0" tIns="0" rIns="0" bIns="0" rtlCol="0" anchor="ctr"/>
          <a:lstStyle/>
          <a:p>
            <a:pPr marL="0" indent="0">
              <a:buNone/>
            </a:pPr>
            <a:r>
              <a:rPr lang="en-US" altLang="en-US" sz="1050" b="1" dirty="0">
                <a:solidFill>
                  <a:srgbClr val="FFFFFF"/>
                </a:solidFill>
                <a:latin typeface="Calibri" pitchFamily="34" charset="0"/>
                <a:ea typeface="Calibri" pitchFamily="34" charset="-122"/>
                <a:cs typeface="Calibri" pitchFamily="34" charset="-120"/>
              </a:rPr>
              <a:t>🏠  Resident Dashboard — My Dashboard View</a:t>
            </a:r>
            <a:endParaRPr lang="en-US" sz="1050" dirty="0"/>
          </a:p>
        </p:txBody>
      </p:sp>
      <p:sp>
        <p:nvSpPr>
          <p:cNvPr id="8" name="Shape 5"/>
          <p:cNvSpPr/>
          <p:nvPr/>
        </p:nvSpPr>
        <p:spPr>
          <a:xfrm>
            <a:off x="4709160" y="1005840"/>
            <a:ext cx="4160520" cy="2971800"/>
          </a:xfrm>
          <a:prstGeom prst="rect">
            <a:avLst/>
          </a:prstGeom>
          <a:solidFill>
            <a:srgbClr val="1E2A45"/>
          </a:solidFill>
          <a:ln w="12700">
            <a:solidFill>
              <a:srgbClr val="FF6584">
                <a:alpha val="60000"/>
              </a:srgbClr>
            </a:solidFill>
            <a:prstDash val="solid"/>
          </a:ln>
          <a:effectLst>
            <a:outerShdw blurRad="101600" dist="38100" dir="8100000" algn="bl" rotWithShape="0">
              <a:srgbClr val="000000">
                <a:alpha val="18000"/>
              </a:srgbClr>
            </a:outerShdw>
          </a:effectLst>
        </p:spPr>
      </p:sp>
      <p:sp>
        <p:nvSpPr>
          <p:cNvPr id="10" name="Shape 6"/>
          <p:cNvSpPr/>
          <p:nvPr/>
        </p:nvSpPr>
        <p:spPr>
          <a:xfrm>
            <a:off x="4709160" y="3502152"/>
            <a:ext cx="4160520" cy="475488"/>
          </a:xfrm>
          <a:prstGeom prst="rect">
            <a:avLst/>
          </a:prstGeom>
          <a:solidFill>
            <a:srgbClr val="FF6584">
              <a:alpha val="85000"/>
            </a:srgbClr>
          </a:solidFill>
          <a:ln w="12700">
            <a:solidFill>
              <a:srgbClr val="FF6584">
                <a:alpha val="85000"/>
              </a:srgbClr>
            </a:solidFill>
            <a:prstDash val="solid"/>
          </a:ln>
        </p:spPr>
      </p:sp>
      <p:sp>
        <p:nvSpPr>
          <p:cNvPr id="11" name="Text 7"/>
          <p:cNvSpPr/>
          <p:nvPr/>
        </p:nvSpPr>
        <p:spPr>
          <a:xfrm>
            <a:off x="4782312" y="3502152"/>
            <a:ext cx="4005072" cy="475488"/>
          </a:xfrm>
          <a:prstGeom prst="rect">
            <a:avLst/>
          </a:prstGeom>
          <a:noFill/>
          <a:ln/>
        </p:spPr>
        <p:txBody>
          <a:bodyPr wrap="square" lIns="0" tIns="0" rIns="0" bIns="0" rtlCol="0" anchor="ctr"/>
          <a:lstStyle/>
          <a:p>
            <a:pPr marL="0" indent="0">
              <a:buNone/>
            </a:pPr>
            <a:r>
              <a:rPr lang="en-US" altLang="en-US" sz="1050" b="1" dirty="0">
                <a:solidFill>
                  <a:srgbClr val="FFFFFF"/>
                </a:solidFill>
                <a:latin typeface="Calibri" pitchFamily="34" charset="0"/>
                <a:ea typeface="Calibri" pitchFamily="34" charset="-122"/>
                <a:cs typeface="Calibri" pitchFamily="34" charset="-120"/>
              </a:rPr>
              <a:t>👑  Admin Dashboard — Analytics &amp; Stats View</a:t>
            </a:r>
            <a:endParaRPr lang="en-US" sz="1050" dirty="0"/>
          </a:p>
        </p:txBody>
      </p:sp>
      <p:sp>
        <p:nvSpPr>
          <p:cNvPr id="12" name="Text 8"/>
          <p:cNvSpPr/>
          <p:nvPr/>
        </p:nvSpPr>
        <p:spPr>
          <a:xfrm>
            <a:off x="0" y="4846320"/>
            <a:ext cx="9144000" cy="274320"/>
          </a:xfrm>
          <a:prstGeom prst="rect">
            <a:avLst/>
          </a:prstGeom>
          <a:noFill/>
          <a:ln/>
        </p:spPr>
        <p:txBody>
          <a:bodyPr wrap="square" rtlCol="0" anchor="ctr"/>
          <a:lstStyle/>
          <a:p>
            <a:pPr marL="0" indent="0" algn="ctr">
              <a:buNone/>
            </a:pPr>
            <a:r>
              <a:rPr lang="en-US" altLang="en-US" sz="950" dirty="0">
                <a:solidFill>
                  <a:srgbClr val="94A3B8"/>
                </a:solidFill>
                <a:latin typeface="Calibri" pitchFamily="34" charset="0"/>
                <a:ea typeface="Calibri" pitchFamily="34" charset="-122"/>
                <a:cs typeface="Calibri" pitchFamily="34" charset="-120"/>
              </a:rPr>
              <a:t>Built with Node.js · Express · MongoDB · EJS · Chart.js</a:t>
            </a:r>
            <a:endParaRPr lang="en-US" sz="950" dirty="0"/>
          </a:p>
        </p:txBody>
      </p:sp>
      <p:pic>
        <p:nvPicPr>
          <p:cNvPr id="14" name="Picture 13">
            <a:extLst>
              <a:ext uri="{FF2B5EF4-FFF2-40B4-BE49-F238E27FC236}">
                <a16:creationId xmlns:a16="http://schemas.microsoft.com/office/drawing/2014/main" id="{7AE75A8E-0421-EB1A-C1F6-A1EE3262E3CF}"/>
              </a:ext>
            </a:extLst>
          </p:cNvPr>
          <p:cNvPicPr>
            <a:picLocks noChangeAspect="1"/>
          </p:cNvPicPr>
          <p:nvPr/>
        </p:nvPicPr>
        <p:blipFill>
          <a:blip r:embed="rId3"/>
          <a:stretch>
            <a:fillRect/>
          </a:stretch>
        </p:blipFill>
        <p:spPr>
          <a:xfrm>
            <a:off x="4709160" y="1005840"/>
            <a:ext cx="4160520" cy="2496312"/>
          </a:xfrm>
          <a:prstGeom prst="rect">
            <a:avLst/>
          </a:prstGeom>
        </p:spPr>
      </p:pic>
      <p:pic>
        <p:nvPicPr>
          <p:cNvPr id="16" name="Picture 15">
            <a:extLst>
              <a:ext uri="{FF2B5EF4-FFF2-40B4-BE49-F238E27FC236}">
                <a16:creationId xmlns:a16="http://schemas.microsoft.com/office/drawing/2014/main" id="{B5F06ED6-8C3B-7532-1A8F-EED2FCF8FFDB}"/>
              </a:ext>
            </a:extLst>
          </p:cNvPr>
          <p:cNvPicPr>
            <a:picLocks noChangeAspect="1"/>
          </p:cNvPicPr>
          <p:nvPr/>
        </p:nvPicPr>
        <p:blipFill>
          <a:blip r:embed="rId4"/>
          <a:stretch>
            <a:fillRect/>
          </a:stretch>
        </p:blipFill>
        <p:spPr>
          <a:xfrm>
            <a:off x="274320" y="1005840"/>
            <a:ext cx="4160520" cy="24963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228600"/>
            <a:ext cx="9144000" cy="914400"/>
          </a:xfrm>
          <a:prstGeom prst="rect">
            <a:avLst/>
          </a:prstGeom>
          <a:solidFill>
            <a:srgbClr val="2563EB"/>
          </a:solidFill>
          <a:ln w="12700">
            <a:solidFill>
              <a:srgbClr val="2563EB"/>
            </a:solidFill>
            <a:prstDash val="solid"/>
          </a:ln>
        </p:spPr>
      </p:sp>
      <p:sp>
        <p:nvSpPr>
          <p:cNvPr id="3" name="Text 1"/>
          <p:cNvSpPr/>
          <p:nvPr/>
        </p:nvSpPr>
        <p:spPr>
          <a:xfrm>
            <a:off x="457200" y="0"/>
            <a:ext cx="8412480" cy="914400"/>
          </a:xfrm>
          <a:prstGeom prst="rect">
            <a:avLst/>
          </a:prstGeom>
          <a:noFill/>
          <a:ln/>
        </p:spPr>
        <p:txBody>
          <a:bodyPr wrap="square" lIns="0" tIns="0" rIns="0" bIns="0" rtlCol="0" anchor="ctr"/>
          <a:lstStyle/>
          <a:p>
            <a:pPr marL="0" indent="0">
              <a:buNone/>
            </a:pPr>
            <a:r>
              <a:rPr lang="en-US" altLang="en-US" sz="2000" b="1" dirty="0">
                <a:solidFill>
                  <a:srgbClr val="FFFFFF"/>
                </a:solidFill>
                <a:latin typeface="Calibri" pitchFamily="34" charset="0"/>
                <a:ea typeface="Calibri" pitchFamily="34" charset="-122"/>
                <a:cs typeface="Calibri" pitchFamily="34" charset="-120"/>
              </a:rPr>
              <a:t>09  Proof of Prompts Generating Code</a:t>
            </a:r>
            <a:endParaRPr lang="en-US" sz="2000" dirty="0"/>
          </a:p>
        </p:txBody>
      </p:sp>
      <p:sp>
        <p:nvSpPr>
          <p:cNvPr id="4" name="Text 2"/>
          <p:cNvSpPr/>
          <p:nvPr/>
        </p:nvSpPr>
        <p:spPr>
          <a:xfrm>
            <a:off x="457200" y="932688"/>
            <a:ext cx="8229600" cy="292608"/>
          </a:xfrm>
          <a:prstGeom prst="rect">
            <a:avLst/>
          </a:prstGeom>
          <a:noFill/>
          <a:ln/>
        </p:spPr>
        <p:txBody>
          <a:bodyPr wrap="square" lIns="0" tIns="0" rIns="0" bIns="0" rtlCol="0" anchor="ctr"/>
          <a:lstStyle/>
          <a:p>
            <a:pPr marL="0" indent="0">
              <a:buNone/>
            </a:pPr>
            <a:endParaRPr lang="en-US" sz="1000" dirty="0"/>
          </a:p>
        </p:txBody>
      </p:sp>
      <p:sp>
        <p:nvSpPr>
          <p:cNvPr id="5" name="Shape 3"/>
          <p:cNvSpPr/>
          <p:nvPr/>
        </p:nvSpPr>
        <p:spPr>
          <a:xfrm>
            <a:off x="274320" y="1298448"/>
            <a:ext cx="4572000" cy="3337560"/>
          </a:xfrm>
          <a:prstGeom prst="rect">
            <a:avLst/>
          </a:prstGeom>
          <a:solidFill>
            <a:srgbClr val="1E2A45"/>
          </a:solidFill>
          <a:ln w="12700">
            <a:solidFill>
              <a:srgbClr val="2563EB">
                <a:alpha val="55000"/>
              </a:srgbClr>
            </a:solidFill>
            <a:prstDash val="solid"/>
          </a:ln>
          <a:effectLst>
            <a:outerShdw blurRad="101600" dist="38100" dir="8100000" algn="bl" rotWithShape="0">
              <a:srgbClr val="000000">
                <a:alpha val="18000"/>
              </a:srgbClr>
            </a:outerShdw>
          </a:effectLst>
        </p:spPr>
      </p:sp>
      <p:pic>
        <p:nvPicPr>
          <p:cNvPr id="6" name="Image 0" descr="/home/claude/ppt-assets/slide9_proof1.png"/>
          <p:cNvPicPr>
            <a:picLocks noChangeAspect="1"/>
          </p:cNvPicPr>
          <p:nvPr/>
        </p:nvPicPr>
        <p:blipFill>
          <a:blip r:embed="rId3"/>
          <a:srcRect/>
          <a:stretch/>
        </p:blipFill>
        <p:spPr>
          <a:xfrm>
            <a:off x="347472" y="1371600"/>
            <a:ext cx="4425696" cy="2743200"/>
          </a:xfrm>
          <a:prstGeom prst="rect">
            <a:avLst/>
          </a:prstGeom>
        </p:spPr>
      </p:pic>
      <p:sp>
        <p:nvSpPr>
          <p:cNvPr id="7" name="Shape 4"/>
          <p:cNvSpPr/>
          <p:nvPr/>
        </p:nvSpPr>
        <p:spPr>
          <a:xfrm>
            <a:off x="274320" y="4041648"/>
            <a:ext cx="4572000" cy="457200"/>
          </a:xfrm>
          <a:prstGeom prst="rect">
            <a:avLst/>
          </a:prstGeom>
          <a:solidFill>
            <a:srgbClr val="2563EB">
              <a:alpha val="80000"/>
            </a:srgbClr>
          </a:solidFill>
          <a:ln w="12700">
            <a:solidFill>
              <a:srgbClr val="2563EB">
                <a:alpha val="80000"/>
              </a:srgbClr>
            </a:solidFill>
            <a:prstDash val="solid"/>
          </a:ln>
        </p:spPr>
      </p:sp>
      <p:sp>
        <p:nvSpPr>
          <p:cNvPr id="8" name="Text 5"/>
          <p:cNvSpPr/>
          <p:nvPr/>
        </p:nvSpPr>
        <p:spPr>
          <a:xfrm>
            <a:off x="365760" y="4041648"/>
            <a:ext cx="4389120" cy="457200"/>
          </a:xfrm>
          <a:prstGeom prst="rect">
            <a:avLst/>
          </a:prstGeom>
          <a:noFill/>
          <a:ln/>
        </p:spPr>
        <p:txBody>
          <a:bodyPr wrap="square" lIns="0" tIns="0" rIns="0" bIns="0" rtlCol="0" anchor="ctr"/>
          <a:lstStyle/>
          <a:p>
            <a:pPr marL="0" indent="0">
              <a:buNone/>
            </a:pPr>
            <a:r>
              <a:rPr lang="en-US" altLang="en-US" sz="950" b="1" dirty="0">
                <a:solidFill>
                  <a:srgbClr val="FFFFFF"/>
                </a:solidFill>
                <a:latin typeface="Calibri" pitchFamily="34" charset="0"/>
                <a:ea typeface="Calibri" pitchFamily="34" charset="-122"/>
                <a:cs typeface="Calibri" pitchFamily="34" charset="-120"/>
              </a:rPr>
              <a:t>📸  Claude generating project structure code from prompt</a:t>
            </a:r>
            <a:endParaRPr lang="en-US" sz="950" dirty="0"/>
          </a:p>
        </p:txBody>
      </p:sp>
      <p:sp>
        <p:nvSpPr>
          <p:cNvPr id="9" name="Shape 6"/>
          <p:cNvSpPr/>
          <p:nvPr/>
        </p:nvSpPr>
        <p:spPr>
          <a:xfrm>
            <a:off x="5074920" y="1298448"/>
            <a:ext cx="3794760" cy="3337560"/>
          </a:xfrm>
          <a:prstGeom prst="rect">
            <a:avLst/>
          </a:prstGeom>
          <a:solidFill>
            <a:srgbClr val="1E2A45"/>
          </a:solidFill>
          <a:ln w="12700">
            <a:solidFill>
              <a:srgbClr val="2ECC71">
                <a:alpha val="55000"/>
              </a:srgbClr>
            </a:solidFill>
            <a:prstDash val="solid"/>
          </a:ln>
          <a:effectLst>
            <a:outerShdw blurRad="101600" dist="38100" dir="8100000" algn="bl" rotWithShape="0">
              <a:srgbClr val="000000">
                <a:alpha val="18000"/>
              </a:srgbClr>
            </a:outerShdw>
          </a:effectLst>
        </p:spPr>
      </p:sp>
      <p:pic>
        <p:nvPicPr>
          <p:cNvPr id="10" name="Image 1" descr="/home/claude/ppt-assets/slide9_proof2.png"/>
          <p:cNvPicPr>
            <a:picLocks noChangeAspect="1"/>
          </p:cNvPicPr>
          <p:nvPr/>
        </p:nvPicPr>
        <p:blipFill>
          <a:blip r:embed="rId4"/>
          <a:srcRect/>
          <a:stretch/>
        </p:blipFill>
        <p:spPr>
          <a:xfrm>
            <a:off x="5148072" y="1371600"/>
            <a:ext cx="3639312" cy="2743200"/>
          </a:xfrm>
          <a:prstGeom prst="rect">
            <a:avLst/>
          </a:prstGeom>
        </p:spPr>
      </p:pic>
      <p:sp>
        <p:nvSpPr>
          <p:cNvPr id="11" name="Shape 7"/>
          <p:cNvSpPr/>
          <p:nvPr/>
        </p:nvSpPr>
        <p:spPr>
          <a:xfrm>
            <a:off x="5074920" y="4041648"/>
            <a:ext cx="3794760" cy="457200"/>
          </a:xfrm>
          <a:prstGeom prst="rect">
            <a:avLst/>
          </a:prstGeom>
          <a:solidFill>
            <a:srgbClr val="2ECC71">
              <a:alpha val="80000"/>
            </a:srgbClr>
          </a:solidFill>
          <a:ln w="12700">
            <a:solidFill>
              <a:srgbClr val="2ECC71">
                <a:alpha val="80000"/>
              </a:srgbClr>
            </a:solidFill>
            <a:prstDash val="solid"/>
          </a:ln>
        </p:spPr>
      </p:sp>
      <p:sp>
        <p:nvSpPr>
          <p:cNvPr id="12" name="Text 8"/>
          <p:cNvSpPr/>
          <p:nvPr/>
        </p:nvSpPr>
        <p:spPr>
          <a:xfrm>
            <a:off x="5148072" y="4041648"/>
            <a:ext cx="3639312" cy="457200"/>
          </a:xfrm>
          <a:prstGeom prst="rect">
            <a:avLst/>
          </a:prstGeom>
          <a:noFill/>
          <a:ln/>
        </p:spPr>
        <p:txBody>
          <a:bodyPr wrap="square" lIns="0" tIns="0" rIns="0" bIns="0" rtlCol="0" anchor="ctr"/>
          <a:lstStyle/>
          <a:p>
            <a:pPr marL="0" indent="0">
              <a:buNone/>
            </a:pPr>
            <a:r>
              <a:rPr lang="en-US" altLang="en-US" sz="950" b="1" dirty="0">
                <a:solidFill>
                  <a:srgbClr val="FFFFFF"/>
                </a:solidFill>
                <a:latin typeface="Calibri" pitchFamily="34" charset="0"/>
                <a:ea typeface="Calibri" pitchFamily="34" charset="-122"/>
                <a:cs typeface="Calibri" pitchFamily="34" charset="-120"/>
              </a:rPr>
              <a:t>📸  VS Code — Generated project file structure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6441440" y="-914400"/>
            <a:ext cx="3657600" cy="3657600"/>
          </a:xfrm>
          <a:prstGeom prst="ellipse">
            <a:avLst/>
          </a:prstGeom>
          <a:solidFill>
            <a:srgbClr val="FF6584">
              <a:alpha val="12000"/>
            </a:srgbClr>
          </a:solidFill>
          <a:ln w="12700">
            <a:solidFill>
              <a:srgbClr val="FF6584">
                <a:alpha val="12000"/>
              </a:srgbClr>
            </a:solidFill>
            <a:prstDash val="solid"/>
          </a:ln>
        </p:spPr>
      </p:sp>
      <p:sp>
        <p:nvSpPr>
          <p:cNvPr id="3" name="Shape 1"/>
          <p:cNvSpPr/>
          <p:nvPr/>
        </p:nvSpPr>
        <p:spPr>
          <a:xfrm>
            <a:off x="0" y="0"/>
            <a:ext cx="9144000" cy="960120"/>
          </a:xfrm>
          <a:prstGeom prst="rect">
            <a:avLst/>
          </a:prstGeom>
          <a:solidFill>
            <a:srgbClr val="FF6584"/>
          </a:solidFill>
          <a:ln w="12700">
            <a:solidFill>
              <a:srgbClr val="FF6584"/>
            </a:solidFill>
            <a:prstDash val="solid"/>
          </a:ln>
        </p:spPr>
      </p:sp>
      <p:sp>
        <p:nvSpPr>
          <p:cNvPr id="4" name="Text 2"/>
          <p:cNvSpPr/>
          <p:nvPr/>
        </p:nvSpPr>
        <p:spPr>
          <a:xfrm>
            <a:off x="457200" y="0"/>
            <a:ext cx="8229600" cy="960120"/>
          </a:xfrm>
          <a:prstGeom prst="rect">
            <a:avLst/>
          </a:prstGeom>
          <a:noFill/>
          <a:ln/>
        </p:spPr>
        <p:txBody>
          <a:bodyPr wrap="square" lIns="0" tIns="0" rIns="0" bIns="0" rtlCol="0" anchor="ctr"/>
          <a:lstStyle/>
          <a:p>
            <a:pPr marL="0" indent="0">
              <a:buNone/>
            </a:pPr>
            <a:r>
              <a:rPr lang="en-US" altLang="en-US" sz="2200" b="1" dirty="0">
                <a:solidFill>
                  <a:srgbClr val="FFFFFF"/>
                </a:solidFill>
                <a:latin typeface="Calibri" pitchFamily="34" charset="0"/>
                <a:ea typeface="Calibri" pitchFamily="34" charset="-122"/>
                <a:cs typeface="Calibri" pitchFamily="34" charset="-120"/>
              </a:rPr>
              <a:t>10  References</a:t>
            </a:r>
            <a:endParaRPr lang="en-US" sz="2200" dirty="0"/>
          </a:p>
        </p:txBody>
      </p:sp>
      <p:sp>
        <p:nvSpPr>
          <p:cNvPr id="5" name="Shape 3"/>
          <p:cNvSpPr/>
          <p:nvPr/>
        </p:nvSpPr>
        <p:spPr>
          <a:xfrm>
            <a:off x="320040" y="1115568"/>
            <a:ext cx="4160520" cy="804672"/>
          </a:xfrm>
          <a:prstGeom prst="rect">
            <a:avLst/>
          </a:prstGeom>
          <a:solidFill>
            <a:srgbClr val="1E2A45"/>
          </a:solidFill>
          <a:ln w="12700">
            <a:solidFill>
              <a:srgbClr val="FF6584">
                <a:alpha val="35000"/>
              </a:srgbClr>
            </a:solidFill>
            <a:prstDash val="solid"/>
          </a:ln>
          <a:effectLst>
            <a:outerShdw blurRad="101600" dist="38100" dir="8100000" algn="bl" rotWithShape="0">
              <a:srgbClr val="000000">
                <a:alpha val="18000"/>
              </a:srgbClr>
            </a:outerShdw>
          </a:effectLst>
        </p:spPr>
      </p:sp>
      <p:sp>
        <p:nvSpPr>
          <p:cNvPr id="6" name="Shape 4"/>
          <p:cNvSpPr/>
          <p:nvPr/>
        </p:nvSpPr>
        <p:spPr>
          <a:xfrm>
            <a:off x="320040" y="1115568"/>
            <a:ext cx="411480" cy="804672"/>
          </a:xfrm>
          <a:prstGeom prst="rect">
            <a:avLst/>
          </a:prstGeom>
          <a:solidFill>
            <a:srgbClr val="FF6584">
              <a:alpha val="75000"/>
            </a:srgbClr>
          </a:solidFill>
          <a:ln w="12700">
            <a:solidFill>
              <a:srgbClr val="FF6584">
                <a:alpha val="75000"/>
              </a:srgbClr>
            </a:solidFill>
            <a:prstDash val="solid"/>
          </a:ln>
        </p:spPr>
      </p:sp>
      <p:sp>
        <p:nvSpPr>
          <p:cNvPr id="7" name="Text 5"/>
          <p:cNvSpPr/>
          <p:nvPr/>
        </p:nvSpPr>
        <p:spPr>
          <a:xfrm>
            <a:off x="320040" y="1115568"/>
            <a:ext cx="411480" cy="804672"/>
          </a:xfrm>
          <a:prstGeom prst="rect">
            <a:avLst/>
          </a:prstGeom>
          <a:noFill/>
          <a:ln/>
        </p:spPr>
        <p:txBody>
          <a:bodyPr wrap="square" rtlCol="0" anchor="ctr"/>
          <a:lstStyle/>
          <a:p>
            <a:pPr marL="0" indent="0" algn="ctr">
              <a:buNone/>
            </a:pPr>
            <a:r>
              <a:rPr lang="en-US" alt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8" name="Text 6"/>
          <p:cNvSpPr/>
          <p:nvPr/>
        </p:nvSpPr>
        <p:spPr>
          <a:xfrm>
            <a:off x="822960" y="1179576"/>
            <a:ext cx="3547872" cy="320040"/>
          </a:xfrm>
          <a:prstGeom prst="rect">
            <a:avLst/>
          </a:prstGeom>
          <a:noFill/>
          <a:ln/>
        </p:spPr>
        <p:txBody>
          <a:bodyPr wrap="square" lIns="0" tIns="0" rIns="0" bIns="0" rtlCol="0" anchor="ctr"/>
          <a:lstStyle/>
          <a:p>
            <a:pPr marL="0" indent="0">
              <a:buNone/>
            </a:pPr>
            <a:r>
              <a:rPr lang="en-US" altLang="en-US" sz="1100" b="1" dirty="0">
                <a:solidFill>
                  <a:srgbClr val="FFFFFF"/>
                </a:solidFill>
                <a:latin typeface="Calibri" pitchFamily="34" charset="0"/>
                <a:ea typeface="Calibri" pitchFamily="34" charset="-122"/>
                <a:cs typeface="Calibri" pitchFamily="34" charset="-120"/>
              </a:rPr>
              <a:t>🟢  Node.js Official Documentation</a:t>
            </a:r>
            <a:endParaRPr lang="en-US" sz="1100" dirty="0"/>
          </a:p>
        </p:txBody>
      </p:sp>
      <p:sp>
        <p:nvSpPr>
          <p:cNvPr id="9" name="Text 7"/>
          <p:cNvSpPr/>
          <p:nvPr/>
        </p:nvSpPr>
        <p:spPr>
          <a:xfrm>
            <a:off x="822960" y="1517904"/>
            <a:ext cx="3547872" cy="256032"/>
          </a:xfrm>
          <a:prstGeom prst="rect">
            <a:avLst/>
          </a:prstGeom>
          <a:noFill/>
          <a:ln/>
        </p:spPr>
        <p:txBody>
          <a:bodyPr wrap="square" lIns="0" tIns="0" rIns="0" bIns="0" rtlCol="0" anchor="ctr"/>
          <a:lstStyle/>
          <a:p>
            <a:pPr marL="0" indent="0">
              <a:buNone/>
            </a:pPr>
            <a:r>
              <a:rPr lang="en-US" altLang="en-US" sz="900" dirty="0">
                <a:solidFill>
                  <a:srgbClr val="A78BFA"/>
                </a:solidFill>
                <a:latin typeface="Calibri" pitchFamily="34" charset="0"/>
                <a:ea typeface="Calibri" pitchFamily="34" charset="-122"/>
                <a:cs typeface="Calibri" pitchFamily="34" charset="-120"/>
              </a:rPr>
              <a:t>https://nodejs.org/en/docs</a:t>
            </a:r>
            <a:endParaRPr lang="en-US" sz="900" dirty="0"/>
          </a:p>
        </p:txBody>
      </p:sp>
      <p:sp>
        <p:nvSpPr>
          <p:cNvPr id="10" name="Shape 8"/>
          <p:cNvSpPr/>
          <p:nvPr/>
        </p:nvSpPr>
        <p:spPr>
          <a:xfrm>
            <a:off x="4754880" y="1115568"/>
            <a:ext cx="4160520" cy="804672"/>
          </a:xfrm>
          <a:prstGeom prst="rect">
            <a:avLst/>
          </a:prstGeom>
          <a:solidFill>
            <a:srgbClr val="1E2A45"/>
          </a:solidFill>
          <a:ln w="12700">
            <a:solidFill>
              <a:srgbClr val="FF6584">
                <a:alpha val="35000"/>
              </a:srgbClr>
            </a:solidFill>
            <a:prstDash val="solid"/>
          </a:ln>
          <a:effectLst>
            <a:outerShdw blurRad="101600" dist="38100" dir="8100000" algn="bl" rotWithShape="0">
              <a:srgbClr val="000000">
                <a:alpha val="18000"/>
              </a:srgbClr>
            </a:outerShdw>
          </a:effectLst>
        </p:spPr>
      </p:sp>
      <p:sp>
        <p:nvSpPr>
          <p:cNvPr id="11" name="Shape 9"/>
          <p:cNvSpPr/>
          <p:nvPr/>
        </p:nvSpPr>
        <p:spPr>
          <a:xfrm>
            <a:off x="4754880" y="1115568"/>
            <a:ext cx="411480" cy="804672"/>
          </a:xfrm>
          <a:prstGeom prst="rect">
            <a:avLst/>
          </a:prstGeom>
          <a:solidFill>
            <a:srgbClr val="FF6584">
              <a:alpha val="75000"/>
            </a:srgbClr>
          </a:solidFill>
          <a:ln w="12700">
            <a:solidFill>
              <a:srgbClr val="FF6584">
                <a:alpha val="75000"/>
              </a:srgbClr>
            </a:solidFill>
            <a:prstDash val="solid"/>
          </a:ln>
        </p:spPr>
      </p:sp>
      <p:sp>
        <p:nvSpPr>
          <p:cNvPr id="12" name="Text 10"/>
          <p:cNvSpPr/>
          <p:nvPr/>
        </p:nvSpPr>
        <p:spPr>
          <a:xfrm>
            <a:off x="4754880" y="1115568"/>
            <a:ext cx="411480" cy="804672"/>
          </a:xfrm>
          <a:prstGeom prst="rect">
            <a:avLst/>
          </a:prstGeom>
          <a:noFill/>
          <a:ln/>
        </p:spPr>
        <p:txBody>
          <a:bodyPr wrap="square" rtlCol="0" anchor="ctr"/>
          <a:lstStyle/>
          <a:p>
            <a:pPr marL="0" indent="0" algn="ctr">
              <a:buNone/>
            </a:pPr>
            <a:r>
              <a:rPr lang="en-US" alt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3" name="Text 11"/>
          <p:cNvSpPr/>
          <p:nvPr/>
        </p:nvSpPr>
        <p:spPr>
          <a:xfrm>
            <a:off x="5257800" y="1179576"/>
            <a:ext cx="3547872" cy="320040"/>
          </a:xfrm>
          <a:prstGeom prst="rect">
            <a:avLst/>
          </a:prstGeom>
          <a:noFill/>
          <a:ln/>
        </p:spPr>
        <p:txBody>
          <a:bodyPr wrap="square" lIns="0" tIns="0" rIns="0" bIns="0" rtlCol="0" anchor="ctr"/>
          <a:lstStyle/>
          <a:p>
            <a:pPr marL="0" indent="0">
              <a:buNone/>
            </a:pPr>
            <a:r>
              <a:rPr lang="en-US" altLang="en-US" sz="1100" b="1" dirty="0">
                <a:solidFill>
                  <a:srgbClr val="FFFFFF"/>
                </a:solidFill>
                <a:latin typeface="Calibri" pitchFamily="34" charset="0"/>
                <a:ea typeface="Calibri" pitchFamily="34" charset="-122"/>
                <a:cs typeface="Calibri" pitchFamily="34" charset="-120"/>
              </a:rPr>
              <a:t>⚡  Express.js Framework Guide</a:t>
            </a:r>
            <a:endParaRPr lang="en-US" sz="1100" dirty="0"/>
          </a:p>
        </p:txBody>
      </p:sp>
      <p:sp>
        <p:nvSpPr>
          <p:cNvPr id="14" name="Text 12"/>
          <p:cNvSpPr/>
          <p:nvPr/>
        </p:nvSpPr>
        <p:spPr>
          <a:xfrm>
            <a:off x="5257800" y="1517904"/>
            <a:ext cx="3547872" cy="256032"/>
          </a:xfrm>
          <a:prstGeom prst="rect">
            <a:avLst/>
          </a:prstGeom>
          <a:noFill/>
          <a:ln/>
        </p:spPr>
        <p:txBody>
          <a:bodyPr wrap="square" lIns="0" tIns="0" rIns="0" bIns="0" rtlCol="0" anchor="ctr"/>
          <a:lstStyle/>
          <a:p>
            <a:pPr marL="0" indent="0">
              <a:buNone/>
            </a:pPr>
            <a:r>
              <a:rPr lang="en-US" altLang="en-US" sz="900" dirty="0">
                <a:solidFill>
                  <a:srgbClr val="A78BFA"/>
                </a:solidFill>
                <a:latin typeface="Calibri" pitchFamily="34" charset="0"/>
                <a:ea typeface="Calibri" pitchFamily="34" charset="-122"/>
                <a:cs typeface="Calibri" pitchFamily="34" charset="-120"/>
              </a:rPr>
              <a:t>https://expressjs.com/en/guide/routing.html</a:t>
            </a:r>
            <a:endParaRPr lang="en-US" sz="900" dirty="0"/>
          </a:p>
        </p:txBody>
      </p:sp>
      <p:sp>
        <p:nvSpPr>
          <p:cNvPr id="15" name="Shape 13"/>
          <p:cNvSpPr/>
          <p:nvPr/>
        </p:nvSpPr>
        <p:spPr>
          <a:xfrm>
            <a:off x="320040" y="2075688"/>
            <a:ext cx="4160520" cy="804672"/>
          </a:xfrm>
          <a:prstGeom prst="rect">
            <a:avLst/>
          </a:prstGeom>
          <a:solidFill>
            <a:srgbClr val="1E2A45"/>
          </a:solidFill>
          <a:ln w="12700">
            <a:solidFill>
              <a:srgbClr val="FF6584">
                <a:alpha val="35000"/>
              </a:srgbClr>
            </a:solidFill>
            <a:prstDash val="solid"/>
          </a:ln>
          <a:effectLst>
            <a:outerShdw blurRad="101600" dist="38100" dir="8100000" algn="bl" rotWithShape="0">
              <a:srgbClr val="000000">
                <a:alpha val="18000"/>
              </a:srgbClr>
            </a:outerShdw>
          </a:effectLst>
        </p:spPr>
      </p:sp>
      <p:sp>
        <p:nvSpPr>
          <p:cNvPr id="16" name="Shape 14"/>
          <p:cNvSpPr/>
          <p:nvPr/>
        </p:nvSpPr>
        <p:spPr>
          <a:xfrm>
            <a:off x="320040" y="2075688"/>
            <a:ext cx="411480" cy="804672"/>
          </a:xfrm>
          <a:prstGeom prst="rect">
            <a:avLst/>
          </a:prstGeom>
          <a:solidFill>
            <a:srgbClr val="FF6584">
              <a:alpha val="75000"/>
            </a:srgbClr>
          </a:solidFill>
          <a:ln w="12700">
            <a:solidFill>
              <a:srgbClr val="FF6584">
                <a:alpha val="75000"/>
              </a:srgbClr>
            </a:solidFill>
            <a:prstDash val="solid"/>
          </a:ln>
        </p:spPr>
      </p:sp>
      <p:sp>
        <p:nvSpPr>
          <p:cNvPr id="17" name="Text 15"/>
          <p:cNvSpPr/>
          <p:nvPr/>
        </p:nvSpPr>
        <p:spPr>
          <a:xfrm>
            <a:off x="320040" y="2075688"/>
            <a:ext cx="411480" cy="804672"/>
          </a:xfrm>
          <a:prstGeom prst="rect">
            <a:avLst/>
          </a:prstGeom>
          <a:noFill/>
          <a:ln/>
        </p:spPr>
        <p:txBody>
          <a:bodyPr wrap="square" rtlCol="0" anchor="ctr"/>
          <a:lstStyle/>
          <a:p>
            <a:pPr marL="0" indent="0" algn="ctr">
              <a:buNone/>
            </a:pPr>
            <a:r>
              <a:rPr lang="en-US" alt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8" name="Text 16"/>
          <p:cNvSpPr/>
          <p:nvPr/>
        </p:nvSpPr>
        <p:spPr>
          <a:xfrm>
            <a:off x="822960" y="2139696"/>
            <a:ext cx="3547872" cy="320040"/>
          </a:xfrm>
          <a:prstGeom prst="rect">
            <a:avLst/>
          </a:prstGeom>
          <a:noFill/>
          <a:ln/>
        </p:spPr>
        <p:txBody>
          <a:bodyPr wrap="square" lIns="0" tIns="0" rIns="0" bIns="0" rtlCol="0" anchor="ctr"/>
          <a:lstStyle/>
          <a:p>
            <a:pPr marL="0" indent="0">
              <a:buNone/>
            </a:pPr>
            <a:r>
              <a:rPr lang="en-US" altLang="en-US" sz="1100" b="1" dirty="0">
                <a:solidFill>
                  <a:srgbClr val="FFFFFF"/>
                </a:solidFill>
                <a:latin typeface="Calibri" pitchFamily="34" charset="0"/>
                <a:ea typeface="Calibri" pitchFamily="34" charset="-122"/>
                <a:cs typeface="Calibri" pitchFamily="34" charset="-120"/>
              </a:rPr>
              <a:t>🍃  MongoDB Documentation</a:t>
            </a:r>
            <a:endParaRPr lang="en-US" sz="1100" dirty="0"/>
          </a:p>
        </p:txBody>
      </p:sp>
      <p:sp>
        <p:nvSpPr>
          <p:cNvPr id="19" name="Text 17"/>
          <p:cNvSpPr/>
          <p:nvPr/>
        </p:nvSpPr>
        <p:spPr>
          <a:xfrm>
            <a:off x="822960" y="2478024"/>
            <a:ext cx="3547872" cy="256032"/>
          </a:xfrm>
          <a:prstGeom prst="rect">
            <a:avLst/>
          </a:prstGeom>
          <a:noFill/>
          <a:ln/>
        </p:spPr>
        <p:txBody>
          <a:bodyPr wrap="square" lIns="0" tIns="0" rIns="0" bIns="0" rtlCol="0" anchor="ctr"/>
          <a:lstStyle/>
          <a:p>
            <a:pPr marL="0" indent="0">
              <a:buNone/>
            </a:pPr>
            <a:r>
              <a:rPr lang="en-US" altLang="en-US" sz="900" dirty="0">
                <a:solidFill>
                  <a:srgbClr val="A78BFA"/>
                </a:solidFill>
                <a:latin typeface="Calibri" pitchFamily="34" charset="0"/>
                <a:ea typeface="Calibri" pitchFamily="34" charset="-122"/>
                <a:cs typeface="Calibri" pitchFamily="34" charset="-120"/>
              </a:rPr>
              <a:t>https://www.mongodb.com/docs/</a:t>
            </a:r>
            <a:endParaRPr lang="en-US" sz="900" dirty="0"/>
          </a:p>
        </p:txBody>
      </p:sp>
      <p:sp>
        <p:nvSpPr>
          <p:cNvPr id="20" name="Shape 18"/>
          <p:cNvSpPr/>
          <p:nvPr/>
        </p:nvSpPr>
        <p:spPr>
          <a:xfrm>
            <a:off x="4754880" y="2075688"/>
            <a:ext cx="4160520" cy="804672"/>
          </a:xfrm>
          <a:prstGeom prst="rect">
            <a:avLst/>
          </a:prstGeom>
          <a:solidFill>
            <a:srgbClr val="1E2A45"/>
          </a:solidFill>
          <a:ln w="12700">
            <a:solidFill>
              <a:srgbClr val="FF6584">
                <a:alpha val="35000"/>
              </a:srgbClr>
            </a:solidFill>
            <a:prstDash val="solid"/>
          </a:ln>
          <a:effectLst>
            <a:outerShdw blurRad="101600" dist="38100" dir="8100000" algn="bl" rotWithShape="0">
              <a:srgbClr val="000000">
                <a:alpha val="18000"/>
              </a:srgbClr>
            </a:outerShdw>
          </a:effectLst>
        </p:spPr>
      </p:sp>
      <p:sp>
        <p:nvSpPr>
          <p:cNvPr id="21" name="Shape 19"/>
          <p:cNvSpPr/>
          <p:nvPr/>
        </p:nvSpPr>
        <p:spPr>
          <a:xfrm>
            <a:off x="4754880" y="2075688"/>
            <a:ext cx="411480" cy="804672"/>
          </a:xfrm>
          <a:prstGeom prst="rect">
            <a:avLst/>
          </a:prstGeom>
          <a:solidFill>
            <a:srgbClr val="FF6584">
              <a:alpha val="75000"/>
            </a:srgbClr>
          </a:solidFill>
          <a:ln w="12700">
            <a:solidFill>
              <a:srgbClr val="FF6584">
                <a:alpha val="75000"/>
              </a:srgbClr>
            </a:solidFill>
            <a:prstDash val="solid"/>
          </a:ln>
        </p:spPr>
      </p:sp>
      <p:sp>
        <p:nvSpPr>
          <p:cNvPr id="22" name="Text 20"/>
          <p:cNvSpPr/>
          <p:nvPr/>
        </p:nvSpPr>
        <p:spPr>
          <a:xfrm>
            <a:off x="4754880" y="2075688"/>
            <a:ext cx="411480" cy="804672"/>
          </a:xfrm>
          <a:prstGeom prst="rect">
            <a:avLst/>
          </a:prstGeom>
          <a:noFill/>
          <a:ln/>
        </p:spPr>
        <p:txBody>
          <a:bodyPr wrap="square" rtlCol="0" anchor="ctr"/>
          <a:lstStyle/>
          <a:p>
            <a:pPr marL="0" indent="0" algn="ctr">
              <a:buNone/>
            </a:pPr>
            <a:r>
              <a:rPr lang="en-US" alt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23" name="Text 21"/>
          <p:cNvSpPr/>
          <p:nvPr/>
        </p:nvSpPr>
        <p:spPr>
          <a:xfrm>
            <a:off x="5257800" y="2139696"/>
            <a:ext cx="3547872" cy="320040"/>
          </a:xfrm>
          <a:prstGeom prst="rect">
            <a:avLst/>
          </a:prstGeom>
          <a:noFill/>
          <a:ln/>
        </p:spPr>
        <p:txBody>
          <a:bodyPr wrap="square" lIns="0" tIns="0" rIns="0" bIns="0" rtlCol="0" anchor="ctr"/>
          <a:lstStyle/>
          <a:p>
            <a:pPr marL="0" indent="0">
              <a:buNone/>
            </a:pPr>
            <a:r>
              <a:rPr lang="en-US" altLang="en-US" sz="1100" b="1" dirty="0">
                <a:solidFill>
                  <a:srgbClr val="FFFFFF"/>
                </a:solidFill>
                <a:latin typeface="Calibri" pitchFamily="34" charset="0"/>
                <a:ea typeface="Calibri" pitchFamily="34" charset="-122"/>
                <a:cs typeface="Calibri" pitchFamily="34" charset="-120"/>
              </a:rPr>
              <a:t>📦  Mongoose ODM Documentation</a:t>
            </a:r>
            <a:endParaRPr lang="en-US" sz="1100" dirty="0"/>
          </a:p>
        </p:txBody>
      </p:sp>
      <p:sp>
        <p:nvSpPr>
          <p:cNvPr id="24" name="Text 22"/>
          <p:cNvSpPr/>
          <p:nvPr/>
        </p:nvSpPr>
        <p:spPr>
          <a:xfrm>
            <a:off x="5257800" y="2478024"/>
            <a:ext cx="3547872" cy="256032"/>
          </a:xfrm>
          <a:prstGeom prst="rect">
            <a:avLst/>
          </a:prstGeom>
          <a:noFill/>
          <a:ln/>
        </p:spPr>
        <p:txBody>
          <a:bodyPr wrap="square" lIns="0" tIns="0" rIns="0" bIns="0" rtlCol="0" anchor="ctr"/>
          <a:lstStyle/>
          <a:p>
            <a:pPr marL="0" indent="0">
              <a:buNone/>
            </a:pPr>
            <a:r>
              <a:rPr lang="en-US" altLang="en-US" sz="900" dirty="0">
                <a:solidFill>
                  <a:srgbClr val="A78BFA"/>
                </a:solidFill>
                <a:latin typeface="Calibri" pitchFamily="34" charset="0"/>
                <a:ea typeface="Calibri" pitchFamily="34" charset="-122"/>
                <a:cs typeface="Calibri" pitchFamily="34" charset="-120"/>
              </a:rPr>
              <a:t>https://mongoosejs.com/docs/guide.html</a:t>
            </a:r>
            <a:endParaRPr lang="en-US" sz="900" dirty="0"/>
          </a:p>
        </p:txBody>
      </p:sp>
      <p:sp>
        <p:nvSpPr>
          <p:cNvPr id="25" name="Shape 23"/>
          <p:cNvSpPr/>
          <p:nvPr/>
        </p:nvSpPr>
        <p:spPr>
          <a:xfrm>
            <a:off x="320040" y="3035808"/>
            <a:ext cx="4160520" cy="804672"/>
          </a:xfrm>
          <a:prstGeom prst="rect">
            <a:avLst/>
          </a:prstGeom>
          <a:solidFill>
            <a:srgbClr val="1E2A45"/>
          </a:solidFill>
          <a:ln w="12700">
            <a:solidFill>
              <a:srgbClr val="FF6584">
                <a:alpha val="35000"/>
              </a:srgbClr>
            </a:solidFill>
            <a:prstDash val="solid"/>
          </a:ln>
          <a:effectLst>
            <a:outerShdw blurRad="101600" dist="38100" dir="8100000" algn="bl" rotWithShape="0">
              <a:srgbClr val="000000">
                <a:alpha val="18000"/>
              </a:srgbClr>
            </a:outerShdw>
          </a:effectLst>
        </p:spPr>
      </p:sp>
      <p:sp>
        <p:nvSpPr>
          <p:cNvPr id="26" name="Shape 24"/>
          <p:cNvSpPr/>
          <p:nvPr/>
        </p:nvSpPr>
        <p:spPr>
          <a:xfrm>
            <a:off x="320040" y="3035808"/>
            <a:ext cx="411480" cy="804672"/>
          </a:xfrm>
          <a:prstGeom prst="rect">
            <a:avLst/>
          </a:prstGeom>
          <a:solidFill>
            <a:srgbClr val="FF6584">
              <a:alpha val="75000"/>
            </a:srgbClr>
          </a:solidFill>
          <a:ln w="12700">
            <a:solidFill>
              <a:srgbClr val="FF6584">
                <a:alpha val="75000"/>
              </a:srgbClr>
            </a:solidFill>
            <a:prstDash val="solid"/>
          </a:ln>
        </p:spPr>
      </p:sp>
      <p:sp>
        <p:nvSpPr>
          <p:cNvPr id="27" name="Text 25"/>
          <p:cNvSpPr/>
          <p:nvPr/>
        </p:nvSpPr>
        <p:spPr>
          <a:xfrm>
            <a:off x="320040" y="3035808"/>
            <a:ext cx="411480" cy="804672"/>
          </a:xfrm>
          <a:prstGeom prst="rect">
            <a:avLst/>
          </a:prstGeom>
          <a:noFill/>
          <a:ln/>
        </p:spPr>
        <p:txBody>
          <a:bodyPr wrap="square" rtlCol="0" anchor="ctr"/>
          <a:lstStyle/>
          <a:p>
            <a:pPr marL="0" indent="0" algn="ctr">
              <a:buNone/>
            </a:pPr>
            <a:r>
              <a:rPr lang="en-US" alt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28" name="Text 26"/>
          <p:cNvSpPr/>
          <p:nvPr/>
        </p:nvSpPr>
        <p:spPr>
          <a:xfrm>
            <a:off x="822960" y="3099816"/>
            <a:ext cx="3547872" cy="320040"/>
          </a:xfrm>
          <a:prstGeom prst="rect">
            <a:avLst/>
          </a:prstGeom>
          <a:noFill/>
          <a:ln/>
        </p:spPr>
        <p:txBody>
          <a:bodyPr wrap="square" lIns="0" tIns="0" rIns="0" bIns="0" rtlCol="0" anchor="ctr"/>
          <a:lstStyle/>
          <a:p>
            <a:pPr marL="0" indent="0">
              <a:buNone/>
            </a:pPr>
            <a:r>
              <a:rPr lang="en-US" altLang="en-US" sz="1100" b="1" dirty="0">
                <a:solidFill>
                  <a:srgbClr val="FFFFFF"/>
                </a:solidFill>
                <a:latin typeface="Calibri" pitchFamily="34" charset="0"/>
                <a:ea typeface="Calibri" pitchFamily="34" charset="-122"/>
                <a:cs typeface="Calibri" pitchFamily="34" charset="-120"/>
              </a:rPr>
              <a:t>📊  Chart.js Documentation</a:t>
            </a:r>
            <a:endParaRPr lang="en-US" sz="1100" dirty="0"/>
          </a:p>
        </p:txBody>
      </p:sp>
      <p:sp>
        <p:nvSpPr>
          <p:cNvPr id="29" name="Text 27"/>
          <p:cNvSpPr/>
          <p:nvPr/>
        </p:nvSpPr>
        <p:spPr>
          <a:xfrm>
            <a:off x="822960" y="3438144"/>
            <a:ext cx="3547872" cy="256032"/>
          </a:xfrm>
          <a:prstGeom prst="rect">
            <a:avLst/>
          </a:prstGeom>
          <a:noFill/>
          <a:ln/>
        </p:spPr>
        <p:txBody>
          <a:bodyPr wrap="square" lIns="0" tIns="0" rIns="0" bIns="0" rtlCol="0" anchor="ctr"/>
          <a:lstStyle/>
          <a:p>
            <a:pPr marL="0" indent="0">
              <a:buNone/>
            </a:pPr>
            <a:r>
              <a:rPr lang="en-US" altLang="en-US" sz="900" dirty="0">
                <a:solidFill>
                  <a:srgbClr val="A78BFA"/>
                </a:solidFill>
                <a:latin typeface="Calibri" pitchFamily="34" charset="0"/>
                <a:ea typeface="Calibri" pitchFamily="34" charset="-122"/>
                <a:cs typeface="Calibri" pitchFamily="34" charset="-120"/>
              </a:rPr>
              <a:t>https://www.chartjs.org/docs/latest/</a:t>
            </a:r>
            <a:endParaRPr lang="en-US" sz="900" dirty="0"/>
          </a:p>
        </p:txBody>
      </p:sp>
      <p:sp>
        <p:nvSpPr>
          <p:cNvPr id="30" name="Shape 28"/>
          <p:cNvSpPr/>
          <p:nvPr/>
        </p:nvSpPr>
        <p:spPr>
          <a:xfrm>
            <a:off x="4754880" y="3035808"/>
            <a:ext cx="4160520" cy="804672"/>
          </a:xfrm>
          <a:prstGeom prst="rect">
            <a:avLst/>
          </a:prstGeom>
          <a:solidFill>
            <a:srgbClr val="1E2A45"/>
          </a:solidFill>
          <a:ln w="12700">
            <a:solidFill>
              <a:srgbClr val="FF6584">
                <a:alpha val="35000"/>
              </a:srgbClr>
            </a:solidFill>
            <a:prstDash val="solid"/>
          </a:ln>
          <a:effectLst>
            <a:outerShdw blurRad="101600" dist="38100" dir="8100000" algn="bl" rotWithShape="0">
              <a:srgbClr val="000000">
                <a:alpha val="18000"/>
              </a:srgbClr>
            </a:outerShdw>
          </a:effectLst>
        </p:spPr>
      </p:sp>
      <p:sp>
        <p:nvSpPr>
          <p:cNvPr id="31" name="Shape 29"/>
          <p:cNvSpPr/>
          <p:nvPr/>
        </p:nvSpPr>
        <p:spPr>
          <a:xfrm>
            <a:off x="4754880" y="3035808"/>
            <a:ext cx="411480" cy="804672"/>
          </a:xfrm>
          <a:prstGeom prst="rect">
            <a:avLst/>
          </a:prstGeom>
          <a:solidFill>
            <a:srgbClr val="FF6584">
              <a:alpha val="75000"/>
            </a:srgbClr>
          </a:solidFill>
          <a:ln w="12700">
            <a:solidFill>
              <a:srgbClr val="FF6584">
                <a:alpha val="75000"/>
              </a:srgbClr>
            </a:solidFill>
            <a:prstDash val="solid"/>
          </a:ln>
        </p:spPr>
      </p:sp>
      <p:sp>
        <p:nvSpPr>
          <p:cNvPr id="32" name="Text 30"/>
          <p:cNvSpPr/>
          <p:nvPr/>
        </p:nvSpPr>
        <p:spPr>
          <a:xfrm>
            <a:off x="4754880" y="3035808"/>
            <a:ext cx="411480" cy="804672"/>
          </a:xfrm>
          <a:prstGeom prst="rect">
            <a:avLst/>
          </a:prstGeom>
          <a:noFill/>
          <a:ln/>
        </p:spPr>
        <p:txBody>
          <a:bodyPr wrap="square" rtlCol="0" anchor="ctr"/>
          <a:lstStyle/>
          <a:p>
            <a:pPr marL="0" indent="0" algn="ctr">
              <a:buNone/>
            </a:pPr>
            <a:r>
              <a:rPr lang="en-US" alt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33" name="Text 31"/>
          <p:cNvSpPr/>
          <p:nvPr/>
        </p:nvSpPr>
        <p:spPr>
          <a:xfrm>
            <a:off x="5257800" y="3099816"/>
            <a:ext cx="3547872" cy="320040"/>
          </a:xfrm>
          <a:prstGeom prst="rect">
            <a:avLst/>
          </a:prstGeom>
          <a:noFill/>
          <a:ln/>
        </p:spPr>
        <p:txBody>
          <a:bodyPr wrap="square" lIns="0" tIns="0" rIns="0" bIns="0" rtlCol="0" anchor="ctr"/>
          <a:lstStyle/>
          <a:p>
            <a:pPr marL="0" indent="0">
              <a:buNone/>
            </a:pPr>
            <a:r>
              <a:rPr lang="en-US" altLang="en-US" sz="1100" b="1" dirty="0">
                <a:solidFill>
                  <a:srgbClr val="FFFFFF"/>
                </a:solidFill>
                <a:latin typeface="Calibri" pitchFamily="34" charset="0"/>
                <a:ea typeface="Calibri" pitchFamily="34" charset="-122"/>
                <a:cs typeface="Calibri" pitchFamily="34" charset="-120"/>
              </a:rPr>
              <a:t>🔐  bcryptjs – npm Package</a:t>
            </a:r>
            <a:endParaRPr lang="en-US" sz="1100" dirty="0"/>
          </a:p>
        </p:txBody>
      </p:sp>
      <p:sp>
        <p:nvSpPr>
          <p:cNvPr id="34" name="Text 32"/>
          <p:cNvSpPr/>
          <p:nvPr/>
        </p:nvSpPr>
        <p:spPr>
          <a:xfrm>
            <a:off x="5257800" y="3438144"/>
            <a:ext cx="3547872" cy="256032"/>
          </a:xfrm>
          <a:prstGeom prst="rect">
            <a:avLst/>
          </a:prstGeom>
          <a:noFill/>
          <a:ln/>
        </p:spPr>
        <p:txBody>
          <a:bodyPr wrap="square" lIns="0" tIns="0" rIns="0" bIns="0" rtlCol="0" anchor="ctr"/>
          <a:lstStyle/>
          <a:p>
            <a:pPr marL="0" indent="0">
              <a:buNone/>
            </a:pPr>
            <a:r>
              <a:rPr lang="en-US" altLang="en-US" sz="900" dirty="0">
                <a:solidFill>
                  <a:srgbClr val="A78BFA"/>
                </a:solidFill>
                <a:latin typeface="Calibri" pitchFamily="34" charset="0"/>
                <a:ea typeface="Calibri" pitchFamily="34" charset="-122"/>
                <a:cs typeface="Calibri" pitchFamily="34" charset="-120"/>
              </a:rPr>
              <a:t>https://www.npmjs.com/package/bcryptjs</a:t>
            </a:r>
            <a:endParaRPr lang="en-US" sz="900" dirty="0"/>
          </a:p>
        </p:txBody>
      </p:sp>
      <p:sp>
        <p:nvSpPr>
          <p:cNvPr id="35" name="Shape 33"/>
          <p:cNvSpPr/>
          <p:nvPr/>
        </p:nvSpPr>
        <p:spPr>
          <a:xfrm>
            <a:off x="320040" y="3995928"/>
            <a:ext cx="4160520" cy="804672"/>
          </a:xfrm>
          <a:prstGeom prst="rect">
            <a:avLst/>
          </a:prstGeom>
          <a:solidFill>
            <a:srgbClr val="1E2A45"/>
          </a:solidFill>
          <a:ln w="12700">
            <a:solidFill>
              <a:srgbClr val="FF6584">
                <a:alpha val="35000"/>
              </a:srgbClr>
            </a:solidFill>
            <a:prstDash val="solid"/>
          </a:ln>
          <a:effectLst>
            <a:outerShdw blurRad="101600" dist="38100" dir="8100000" algn="bl" rotWithShape="0">
              <a:srgbClr val="000000">
                <a:alpha val="18000"/>
              </a:srgbClr>
            </a:outerShdw>
          </a:effectLst>
        </p:spPr>
      </p:sp>
      <p:sp>
        <p:nvSpPr>
          <p:cNvPr id="36" name="Shape 34"/>
          <p:cNvSpPr/>
          <p:nvPr/>
        </p:nvSpPr>
        <p:spPr>
          <a:xfrm>
            <a:off x="320040" y="3995928"/>
            <a:ext cx="411480" cy="804672"/>
          </a:xfrm>
          <a:prstGeom prst="rect">
            <a:avLst/>
          </a:prstGeom>
          <a:solidFill>
            <a:srgbClr val="FF6584">
              <a:alpha val="75000"/>
            </a:srgbClr>
          </a:solidFill>
          <a:ln w="12700">
            <a:solidFill>
              <a:srgbClr val="FF6584">
                <a:alpha val="75000"/>
              </a:srgbClr>
            </a:solidFill>
            <a:prstDash val="solid"/>
          </a:ln>
        </p:spPr>
      </p:sp>
      <p:sp>
        <p:nvSpPr>
          <p:cNvPr id="37" name="Text 35"/>
          <p:cNvSpPr/>
          <p:nvPr/>
        </p:nvSpPr>
        <p:spPr>
          <a:xfrm>
            <a:off x="320040" y="3995928"/>
            <a:ext cx="411480" cy="804672"/>
          </a:xfrm>
          <a:prstGeom prst="rect">
            <a:avLst/>
          </a:prstGeom>
          <a:noFill/>
          <a:ln/>
        </p:spPr>
        <p:txBody>
          <a:bodyPr wrap="square" rtlCol="0" anchor="ctr"/>
          <a:lstStyle/>
          <a:p>
            <a:pPr marL="0" indent="0" algn="ctr">
              <a:buNone/>
            </a:pPr>
            <a:r>
              <a:rPr lang="en-US" alt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38" name="Text 36"/>
          <p:cNvSpPr/>
          <p:nvPr/>
        </p:nvSpPr>
        <p:spPr>
          <a:xfrm>
            <a:off x="822960" y="4059936"/>
            <a:ext cx="3547872" cy="320040"/>
          </a:xfrm>
          <a:prstGeom prst="rect">
            <a:avLst/>
          </a:prstGeom>
          <a:noFill/>
          <a:ln/>
        </p:spPr>
        <p:txBody>
          <a:bodyPr wrap="square" lIns="0" tIns="0" rIns="0" bIns="0" rtlCol="0" anchor="ctr"/>
          <a:lstStyle/>
          <a:p>
            <a:pPr marL="0" indent="0">
              <a:buNone/>
            </a:pPr>
            <a:r>
              <a:rPr lang="en-US" altLang="en-US" sz="1100" b="1" dirty="0">
                <a:solidFill>
                  <a:srgbClr val="FFFFFF"/>
                </a:solidFill>
                <a:latin typeface="Calibri" pitchFamily="34" charset="0"/>
                <a:ea typeface="Calibri" pitchFamily="34" charset="-122"/>
                <a:cs typeface="Calibri" pitchFamily="34" charset="-120"/>
              </a:rPr>
              <a:t>📝  EJS Embedded JavaScript Templates</a:t>
            </a:r>
            <a:endParaRPr lang="en-US" sz="1100" dirty="0"/>
          </a:p>
        </p:txBody>
      </p:sp>
      <p:sp>
        <p:nvSpPr>
          <p:cNvPr id="39" name="Text 37"/>
          <p:cNvSpPr/>
          <p:nvPr/>
        </p:nvSpPr>
        <p:spPr>
          <a:xfrm>
            <a:off x="822960" y="4398264"/>
            <a:ext cx="3547872" cy="256032"/>
          </a:xfrm>
          <a:prstGeom prst="rect">
            <a:avLst/>
          </a:prstGeom>
          <a:noFill/>
          <a:ln/>
        </p:spPr>
        <p:txBody>
          <a:bodyPr wrap="square" lIns="0" tIns="0" rIns="0" bIns="0" rtlCol="0" anchor="ctr"/>
          <a:lstStyle/>
          <a:p>
            <a:pPr marL="0" indent="0">
              <a:buNone/>
            </a:pPr>
            <a:r>
              <a:rPr lang="en-US" altLang="en-US" sz="900" dirty="0">
                <a:solidFill>
                  <a:srgbClr val="A78BFA"/>
                </a:solidFill>
                <a:latin typeface="Calibri" pitchFamily="34" charset="0"/>
                <a:ea typeface="Calibri" pitchFamily="34" charset="-122"/>
                <a:cs typeface="Calibri" pitchFamily="34" charset="-120"/>
              </a:rPr>
              <a:t>https://ejs.co/#docs</a:t>
            </a:r>
            <a:endParaRPr lang="en-US" sz="900" dirty="0"/>
          </a:p>
        </p:txBody>
      </p:sp>
      <p:sp>
        <p:nvSpPr>
          <p:cNvPr id="40" name="Shape 38"/>
          <p:cNvSpPr/>
          <p:nvPr/>
        </p:nvSpPr>
        <p:spPr>
          <a:xfrm>
            <a:off x="4754880" y="3995928"/>
            <a:ext cx="4160520" cy="804672"/>
          </a:xfrm>
          <a:prstGeom prst="rect">
            <a:avLst/>
          </a:prstGeom>
          <a:solidFill>
            <a:srgbClr val="1E2A45"/>
          </a:solidFill>
          <a:ln w="12700">
            <a:solidFill>
              <a:srgbClr val="FF6584">
                <a:alpha val="35000"/>
              </a:srgbClr>
            </a:solidFill>
            <a:prstDash val="solid"/>
          </a:ln>
          <a:effectLst>
            <a:outerShdw blurRad="101600" dist="38100" dir="8100000" algn="bl" rotWithShape="0">
              <a:srgbClr val="000000">
                <a:alpha val="18000"/>
              </a:srgbClr>
            </a:outerShdw>
          </a:effectLst>
        </p:spPr>
      </p:sp>
      <p:sp>
        <p:nvSpPr>
          <p:cNvPr id="41" name="Shape 39"/>
          <p:cNvSpPr/>
          <p:nvPr/>
        </p:nvSpPr>
        <p:spPr>
          <a:xfrm>
            <a:off x="4754880" y="3995928"/>
            <a:ext cx="411480" cy="804672"/>
          </a:xfrm>
          <a:prstGeom prst="rect">
            <a:avLst/>
          </a:prstGeom>
          <a:solidFill>
            <a:srgbClr val="FF6584">
              <a:alpha val="75000"/>
            </a:srgbClr>
          </a:solidFill>
          <a:ln w="12700">
            <a:solidFill>
              <a:srgbClr val="FF6584">
                <a:alpha val="75000"/>
              </a:srgbClr>
            </a:solidFill>
            <a:prstDash val="solid"/>
          </a:ln>
        </p:spPr>
      </p:sp>
      <p:sp>
        <p:nvSpPr>
          <p:cNvPr id="42" name="Text 40"/>
          <p:cNvSpPr/>
          <p:nvPr/>
        </p:nvSpPr>
        <p:spPr>
          <a:xfrm>
            <a:off x="4754880" y="3995928"/>
            <a:ext cx="411480" cy="804672"/>
          </a:xfrm>
          <a:prstGeom prst="rect">
            <a:avLst/>
          </a:prstGeom>
          <a:noFill/>
          <a:ln/>
        </p:spPr>
        <p:txBody>
          <a:bodyPr wrap="square" rtlCol="0" anchor="ctr"/>
          <a:lstStyle/>
          <a:p>
            <a:pPr marL="0" indent="0" algn="ctr">
              <a:buNone/>
            </a:pPr>
            <a:r>
              <a:rPr lang="en-US" alt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43" name="Text 41"/>
          <p:cNvSpPr/>
          <p:nvPr/>
        </p:nvSpPr>
        <p:spPr>
          <a:xfrm>
            <a:off x="5257800" y="4059936"/>
            <a:ext cx="3547872" cy="320040"/>
          </a:xfrm>
          <a:prstGeom prst="rect">
            <a:avLst/>
          </a:prstGeom>
          <a:noFill/>
          <a:ln/>
        </p:spPr>
        <p:txBody>
          <a:bodyPr wrap="square" lIns="0" tIns="0" rIns="0" bIns="0" rtlCol="0" anchor="ctr"/>
          <a:lstStyle/>
          <a:p>
            <a:pPr marL="0" indent="0">
              <a:buNone/>
            </a:pPr>
            <a:r>
              <a:rPr lang="en-US" altLang="en-US" sz="1100" b="1" dirty="0">
                <a:solidFill>
                  <a:srgbClr val="FFFFFF"/>
                </a:solidFill>
                <a:latin typeface="Calibri" pitchFamily="34" charset="0"/>
                <a:ea typeface="Calibri" pitchFamily="34" charset="-122"/>
                <a:cs typeface="Calibri" pitchFamily="34" charset="-120"/>
              </a:rPr>
              <a:t>🤖  Anthropic Claude AI (Code Generation)</a:t>
            </a:r>
            <a:endParaRPr lang="en-US" sz="1100" dirty="0"/>
          </a:p>
        </p:txBody>
      </p:sp>
      <p:sp>
        <p:nvSpPr>
          <p:cNvPr id="44" name="Text 42"/>
          <p:cNvSpPr/>
          <p:nvPr/>
        </p:nvSpPr>
        <p:spPr>
          <a:xfrm>
            <a:off x="5257800" y="4398264"/>
            <a:ext cx="3547872" cy="256032"/>
          </a:xfrm>
          <a:prstGeom prst="rect">
            <a:avLst/>
          </a:prstGeom>
          <a:noFill/>
          <a:ln/>
        </p:spPr>
        <p:txBody>
          <a:bodyPr wrap="square" lIns="0" tIns="0" rIns="0" bIns="0" rtlCol="0" anchor="ctr"/>
          <a:lstStyle/>
          <a:p>
            <a:pPr marL="0" indent="0">
              <a:buNone/>
            </a:pPr>
            <a:r>
              <a:rPr lang="en-US" altLang="en-US" sz="900" dirty="0">
                <a:solidFill>
                  <a:srgbClr val="A78BFA"/>
                </a:solidFill>
                <a:latin typeface="Calibri" pitchFamily="34" charset="0"/>
                <a:ea typeface="Calibri" pitchFamily="34" charset="-122"/>
                <a:cs typeface="Calibri" pitchFamily="34" charset="-120"/>
              </a:rPr>
              <a:t>https://claude.ai</a:t>
            </a:r>
            <a:endParaRPr lang="en-US" sz="900" dirty="0"/>
          </a:p>
        </p:txBody>
      </p:sp>
      <p:sp>
        <p:nvSpPr>
          <p:cNvPr id="45" name="Text 43"/>
          <p:cNvSpPr/>
          <p:nvPr/>
        </p:nvSpPr>
        <p:spPr>
          <a:xfrm>
            <a:off x="0" y="4828032"/>
            <a:ext cx="9144000" cy="274320"/>
          </a:xfrm>
          <a:prstGeom prst="rect">
            <a:avLst/>
          </a:prstGeom>
          <a:noFill/>
          <a:ln/>
        </p:spPr>
        <p:txBody>
          <a:bodyPr wrap="square" rtlCol="0" anchor="ctr"/>
          <a:lstStyle/>
          <a:p>
            <a:pPr marL="0" indent="0" algn="ctr">
              <a:buNone/>
            </a:pP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6C63FF">
              <a:alpha val="18000"/>
            </a:srgbClr>
          </a:solidFill>
          <a:ln w="12700">
            <a:solidFill>
              <a:srgbClr val="6C63FF">
                <a:alpha val="18000"/>
              </a:srgbClr>
            </a:solidFill>
            <a:prstDash val="solid"/>
          </a:ln>
        </p:spPr>
      </p:sp>
      <p:sp>
        <p:nvSpPr>
          <p:cNvPr id="3" name="Shape 1"/>
          <p:cNvSpPr/>
          <p:nvPr/>
        </p:nvSpPr>
        <p:spPr>
          <a:xfrm>
            <a:off x="6858000" y="2286000"/>
            <a:ext cx="4114800" cy="4114800"/>
          </a:xfrm>
          <a:prstGeom prst="ellipse">
            <a:avLst/>
          </a:prstGeom>
          <a:solidFill>
            <a:srgbClr val="FF6584">
              <a:alpha val="20000"/>
            </a:srgbClr>
          </a:solidFill>
          <a:ln w="12700">
            <a:solidFill>
              <a:srgbClr val="FF6584">
                <a:alpha val="20000"/>
              </a:srgbClr>
            </a:solidFill>
            <a:prstDash val="solid"/>
          </a:ln>
        </p:spPr>
      </p:sp>
      <p:sp>
        <p:nvSpPr>
          <p:cNvPr id="5" name="Shape 3"/>
          <p:cNvSpPr/>
          <p:nvPr/>
        </p:nvSpPr>
        <p:spPr>
          <a:xfrm>
            <a:off x="3200400" y="1097280"/>
            <a:ext cx="2743200" cy="2743200"/>
          </a:xfrm>
          <a:prstGeom prst="ellipse">
            <a:avLst/>
          </a:prstGeom>
          <a:solidFill>
            <a:srgbClr val="6C63FF">
              <a:alpha val="25000"/>
            </a:srgbClr>
          </a:solidFill>
          <a:ln w="12700">
            <a:solidFill>
              <a:srgbClr val="6C63FF">
                <a:alpha val="25000"/>
              </a:srgbClr>
            </a:solidFill>
            <a:prstDash val="solid"/>
          </a:ln>
        </p:spPr>
      </p:sp>
      <p:sp>
        <p:nvSpPr>
          <p:cNvPr id="6" name="Text 4"/>
          <p:cNvSpPr/>
          <p:nvPr/>
        </p:nvSpPr>
        <p:spPr>
          <a:xfrm>
            <a:off x="0" y="960120"/>
            <a:ext cx="9144000" cy="1005840"/>
          </a:xfrm>
          <a:prstGeom prst="rect">
            <a:avLst/>
          </a:prstGeom>
          <a:noFill/>
          <a:ln/>
        </p:spPr>
        <p:txBody>
          <a:bodyPr wrap="square" rtlCol="0" anchor="ctr"/>
          <a:lstStyle/>
          <a:p>
            <a:pPr marL="0" indent="0" algn="ctr">
              <a:buNone/>
            </a:pPr>
            <a:endParaRPr lang="en-US" sz="4800" dirty="0"/>
          </a:p>
        </p:txBody>
      </p:sp>
      <p:sp>
        <p:nvSpPr>
          <p:cNvPr id="7" name="Text 5"/>
          <p:cNvSpPr/>
          <p:nvPr/>
        </p:nvSpPr>
        <p:spPr>
          <a:xfrm>
            <a:off x="457200" y="1965960"/>
            <a:ext cx="8229600" cy="1005840"/>
          </a:xfrm>
          <a:prstGeom prst="rect">
            <a:avLst/>
          </a:prstGeom>
          <a:noFill/>
          <a:ln/>
        </p:spPr>
        <p:txBody>
          <a:bodyPr wrap="square" rtlCol="0" anchor="ctr"/>
          <a:lstStyle/>
          <a:p>
            <a:pPr marL="0" indent="0" algn="ctr">
              <a:buNone/>
            </a:pPr>
            <a:r>
              <a:rPr lang="en-US" alt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8" name="Text 6"/>
          <p:cNvSpPr/>
          <p:nvPr/>
        </p:nvSpPr>
        <p:spPr>
          <a:xfrm>
            <a:off x="457200" y="2999232"/>
            <a:ext cx="8229600" cy="411480"/>
          </a:xfrm>
          <a:prstGeom prst="rect">
            <a:avLst/>
          </a:prstGeom>
          <a:noFill/>
          <a:ln/>
        </p:spPr>
        <p:txBody>
          <a:bodyPr wrap="square" rtlCol="0" anchor="ctr"/>
          <a:lstStyle/>
          <a:p>
            <a:pPr marL="0" indent="0" algn="ctr">
              <a:buNone/>
            </a:pPr>
            <a:r>
              <a:rPr lang="en-US" altLang="en-US" sz="1500" dirty="0">
                <a:solidFill>
                  <a:srgbClr val="A78BFA"/>
                </a:solidFill>
                <a:latin typeface="Calibri" pitchFamily="34" charset="0"/>
                <a:ea typeface="Calibri" pitchFamily="34" charset="-122"/>
                <a:cs typeface="Calibri" pitchFamily="34" charset="-120"/>
              </a:rPr>
              <a:t>Dwell Core — Smart Apartment Management System</a:t>
            </a:r>
            <a:endParaRPr lang="en-US" sz="1500" dirty="0"/>
          </a:p>
        </p:txBody>
      </p:sp>
      <p:sp>
        <p:nvSpPr>
          <p:cNvPr id="9" name="Shape 7"/>
          <p:cNvSpPr/>
          <p:nvPr/>
        </p:nvSpPr>
        <p:spPr>
          <a:xfrm>
            <a:off x="3200400" y="3493008"/>
            <a:ext cx="2743200" cy="36576"/>
          </a:xfrm>
          <a:prstGeom prst="rect">
            <a:avLst/>
          </a:prstGeom>
          <a:solidFill>
            <a:srgbClr val="6C63FF">
              <a:alpha val="60000"/>
            </a:srgbClr>
          </a:solidFill>
          <a:ln w="12700">
            <a:solidFill>
              <a:srgbClr val="6C63FF">
                <a:alpha val="60000"/>
              </a:srgbClr>
            </a:solidFill>
            <a:prstDash val="solid"/>
          </a:ln>
        </p:spPr>
      </p:sp>
      <p:sp>
        <p:nvSpPr>
          <p:cNvPr id="10" name="Text 8"/>
          <p:cNvSpPr/>
          <p:nvPr/>
        </p:nvSpPr>
        <p:spPr>
          <a:xfrm>
            <a:off x="457200" y="3639312"/>
            <a:ext cx="8229600" cy="347472"/>
          </a:xfrm>
          <a:prstGeom prst="rect">
            <a:avLst/>
          </a:prstGeom>
          <a:noFill/>
          <a:ln/>
        </p:spPr>
        <p:txBody>
          <a:bodyPr wrap="square" rtlCol="0" anchor="ctr"/>
          <a:lstStyle/>
          <a:p>
            <a:pPr marL="0" indent="0" algn="ctr">
              <a:buNone/>
            </a:pPr>
            <a:r>
              <a:rPr lang="en-US" altLang="en-US" sz="1300" dirty="0">
                <a:solidFill>
                  <a:srgbClr val="94A3B8"/>
                </a:solidFill>
                <a:latin typeface="Calibri" pitchFamily="34" charset="0"/>
                <a:ea typeface="Calibri" pitchFamily="34" charset="-122"/>
                <a:cs typeface="Calibri" pitchFamily="34" charset="-120"/>
              </a:rPr>
              <a:t>Presented by  B. Hamsika</a:t>
            </a:r>
            <a:endParaRPr lang="en-US" sz="1300" dirty="0"/>
          </a:p>
        </p:txBody>
      </p:sp>
      <p:sp>
        <p:nvSpPr>
          <p:cNvPr id="11" name="Text 9"/>
          <p:cNvSpPr/>
          <p:nvPr/>
        </p:nvSpPr>
        <p:spPr>
          <a:xfrm>
            <a:off x="0" y="4773168"/>
            <a:ext cx="9144000" cy="274320"/>
          </a:xfrm>
          <a:prstGeom prst="rect">
            <a:avLst/>
          </a:prstGeom>
          <a:noFill/>
          <a:ln/>
        </p:spPr>
        <p:txBody>
          <a:bodyPr wrap="square" rtlCol="0" anchor="ctr"/>
          <a:lstStyle/>
          <a:p>
            <a:pPr marL="0" indent="0" algn="ctr">
              <a:buNone/>
            </a:pPr>
            <a:r>
              <a:rPr lang="en-US" altLang="en-US" sz="1000" dirty="0">
                <a:solidFill>
                  <a:srgbClr val="94A3B8"/>
                </a:solidFill>
                <a:latin typeface="Calibri" pitchFamily="34" charset="0"/>
                <a:ea typeface="Calibri" pitchFamily="34" charset="-122"/>
                <a:cs typeface="Calibri" pitchFamily="34" charset="-120"/>
              </a:rPr>
              <a:t>AI-Assisted Full-Stack Web Development  ·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1016</Words>
  <Application>Microsoft Office PowerPoint</Application>
  <PresentationFormat>On-screen Show (16:9)</PresentationFormat>
  <Paragraphs>173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Dwell Core – Smart Apartment Management System</dc:title>
  <dc:subject>PptxGenJS Presentation</dc:subject>
  <dc:creator>B.Hamsika</dc:creator>
  <cp:lastModifiedBy>hamsika bairaboina</cp:lastModifiedBy>
  <cp:revision>10</cp:revision>
  <dcterms:created xsi:type="dcterms:W3CDTF">2026-04-04T08:22:46Z</dcterms:created>
  <dcterms:modified xsi:type="dcterms:W3CDTF">2026-04-04T13:42:19Z</dcterms:modified>
</cp:coreProperties>
</file>